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Lst>
  <p:sldSz cx="43891200" cy="3291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3291278" rtl="0" fontAlgn="auto" latinLnBrk="0" hangingPunct="0">
      <a:lnSpc>
        <a:spcPct val="100000"/>
      </a:lnSpc>
      <a:spcBef>
        <a:spcPts val="0"/>
      </a:spcBef>
      <a:spcAft>
        <a:spcPts val="0"/>
      </a:spcAft>
      <a:buClrTx/>
      <a:buSzTx/>
      <a:buFontTx/>
      <a:buNone/>
      <a:tabLst/>
      <a:defRPr b="0" baseline="0" cap="none" i="0" spc="0" strike="noStrike" sz="6400" u="none" kumimoji="0" normalizeH="0">
        <a:ln>
          <a:noFill/>
        </a:ln>
        <a:solidFill>
          <a:srgbClr val="000000"/>
        </a:solidFill>
        <a:effectLst/>
        <a:uFillTx/>
        <a:latin typeface="+mn-lt"/>
        <a:ea typeface="+mn-ea"/>
        <a:cs typeface="+mn-cs"/>
        <a:sym typeface="Calibri"/>
      </a:defRPr>
    </a:lvl1pPr>
    <a:lvl2pPr marL="0" marR="0" indent="1645640" algn="l" defTabSz="3291278" rtl="0" fontAlgn="auto" latinLnBrk="0" hangingPunct="0">
      <a:lnSpc>
        <a:spcPct val="100000"/>
      </a:lnSpc>
      <a:spcBef>
        <a:spcPts val="0"/>
      </a:spcBef>
      <a:spcAft>
        <a:spcPts val="0"/>
      </a:spcAft>
      <a:buClrTx/>
      <a:buSzTx/>
      <a:buFontTx/>
      <a:buNone/>
      <a:tabLst/>
      <a:defRPr b="0" baseline="0" cap="none" i="0" spc="0" strike="noStrike" sz="6400" u="none" kumimoji="0" normalizeH="0">
        <a:ln>
          <a:noFill/>
        </a:ln>
        <a:solidFill>
          <a:srgbClr val="000000"/>
        </a:solidFill>
        <a:effectLst/>
        <a:uFillTx/>
        <a:latin typeface="+mn-lt"/>
        <a:ea typeface="+mn-ea"/>
        <a:cs typeface="+mn-cs"/>
        <a:sym typeface="Calibri"/>
      </a:defRPr>
    </a:lvl2pPr>
    <a:lvl3pPr marL="0" marR="0" indent="3291278" algn="l" defTabSz="3291278" rtl="0" fontAlgn="auto" latinLnBrk="0" hangingPunct="0">
      <a:lnSpc>
        <a:spcPct val="100000"/>
      </a:lnSpc>
      <a:spcBef>
        <a:spcPts val="0"/>
      </a:spcBef>
      <a:spcAft>
        <a:spcPts val="0"/>
      </a:spcAft>
      <a:buClrTx/>
      <a:buSzTx/>
      <a:buFontTx/>
      <a:buNone/>
      <a:tabLst/>
      <a:defRPr b="0" baseline="0" cap="none" i="0" spc="0" strike="noStrike" sz="6400" u="none" kumimoji="0" normalizeH="0">
        <a:ln>
          <a:noFill/>
        </a:ln>
        <a:solidFill>
          <a:srgbClr val="000000"/>
        </a:solidFill>
        <a:effectLst/>
        <a:uFillTx/>
        <a:latin typeface="+mn-lt"/>
        <a:ea typeface="+mn-ea"/>
        <a:cs typeface="+mn-cs"/>
        <a:sym typeface="Calibri"/>
      </a:defRPr>
    </a:lvl3pPr>
    <a:lvl4pPr marL="0" marR="0" indent="4936918" algn="l" defTabSz="3291278" rtl="0" fontAlgn="auto" latinLnBrk="0" hangingPunct="0">
      <a:lnSpc>
        <a:spcPct val="100000"/>
      </a:lnSpc>
      <a:spcBef>
        <a:spcPts val="0"/>
      </a:spcBef>
      <a:spcAft>
        <a:spcPts val="0"/>
      </a:spcAft>
      <a:buClrTx/>
      <a:buSzTx/>
      <a:buFontTx/>
      <a:buNone/>
      <a:tabLst/>
      <a:defRPr b="0" baseline="0" cap="none" i="0" spc="0" strike="noStrike" sz="6400" u="none" kumimoji="0" normalizeH="0">
        <a:ln>
          <a:noFill/>
        </a:ln>
        <a:solidFill>
          <a:srgbClr val="000000"/>
        </a:solidFill>
        <a:effectLst/>
        <a:uFillTx/>
        <a:latin typeface="+mn-lt"/>
        <a:ea typeface="+mn-ea"/>
        <a:cs typeface="+mn-cs"/>
        <a:sym typeface="Calibri"/>
      </a:defRPr>
    </a:lvl4pPr>
    <a:lvl5pPr marL="0" marR="0" indent="6582558" algn="l" defTabSz="3291278" rtl="0" fontAlgn="auto" latinLnBrk="0" hangingPunct="0">
      <a:lnSpc>
        <a:spcPct val="100000"/>
      </a:lnSpc>
      <a:spcBef>
        <a:spcPts val="0"/>
      </a:spcBef>
      <a:spcAft>
        <a:spcPts val="0"/>
      </a:spcAft>
      <a:buClrTx/>
      <a:buSzTx/>
      <a:buFontTx/>
      <a:buNone/>
      <a:tabLst/>
      <a:defRPr b="0" baseline="0" cap="none" i="0" spc="0" strike="noStrike" sz="6400" u="none" kumimoji="0" normalizeH="0">
        <a:ln>
          <a:noFill/>
        </a:ln>
        <a:solidFill>
          <a:srgbClr val="000000"/>
        </a:solidFill>
        <a:effectLst/>
        <a:uFillTx/>
        <a:latin typeface="+mn-lt"/>
        <a:ea typeface="+mn-ea"/>
        <a:cs typeface="+mn-cs"/>
        <a:sym typeface="Calibri"/>
      </a:defRPr>
    </a:lvl5pPr>
    <a:lvl6pPr marL="0" marR="0" indent="8228197" algn="l" defTabSz="3291278" rtl="0" fontAlgn="auto" latinLnBrk="0" hangingPunct="0">
      <a:lnSpc>
        <a:spcPct val="100000"/>
      </a:lnSpc>
      <a:spcBef>
        <a:spcPts val="0"/>
      </a:spcBef>
      <a:spcAft>
        <a:spcPts val="0"/>
      </a:spcAft>
      <a:buClrTx/>
      <a:buSzTx/>
      <a:buFontTx/>
      <a:buNone/>
      <a:tabLst/>
      <a:defRPr b="0" baseline="0" cap="none" i="0" spc="0" strike="noStrike" sz="6400" u="none" kumimoji="0" normalizeH="0">
        <a:ln>
          <a:noFill/>
        </a:ln>
        <a:solidFill>
          <a:srgbClr val="000000"/>
        </a:solidFill>
        <a:effectLst/>
        <a:uFillTx/>
        <a:latin typeface="+mn-lt"/>
        <a:ea typeface="+mn-ea"/>
        <a:cs typeface="+mn-cs"/>
        <a:sym typeface="Calibri"/>
      </a:defRPr>
    </a:lvl6pPr>
    <a:lvl7pPr marL="0" marR="0" indent="9873836" algn="l" defTabSz="3291278" rtl="0" fontAlgn="auto" latinLnBrk="0" hangingPunct="0">
      <a:lnSpc>
        <a:spcPct val="100000"/>
      </a:lnSpc>
      <a:spcBef>
        <a:spcPts val="0"/>
      </a:spcBef>
      <a:spcAft>
        <a:spcPts val="0"/>
      </a:spcAft>
      <a:buClrTx/>
      <a:buSzTx/>
      <a:buFontTx/>
      <a:buNone/>
      <a:tabLst/>
      <a:defRPr b="0" baseline="0" cap="none" i="0" spc="0" strike="noStrike" sz="6400" u="none" kumimoji="0" normalizeH="0">
        <a:ln>
          <a:noFill/>
        </a:ln>
        <a:solidFill>
          <a:srgbClr val="000000"/>
        </a:solidFill>
        <a:effectLst/>
        <a:uFillTx/>
        <a:latin typeface="+mn-lt"/>
        <a:ea typeface="+mn-ea"/>
        <a:cs typeface="+mn-cs"/>
        <a:sym typeface="Calibri"/>
      </a:defRPr>
    </a:lvl7pPr>
    <a:lvl8pPr marL="0" marR="0" indent="11519478" algn="l" defTabSz="3291278" rtl="0" fontAlgn="auto" latinLnBrk="0" hangingPunct="0">
      <a:lnSpc>
        <a:spcPct val="100000"/>
      </a:lnSpc>
      <a:spcBef>
        <a:spcPts val="0"/>
      </a:spcBef>
      <a:spcAft>
        <a:spcPts val="0"/>
      </a:spcAft>
      <a:buClrTx/>
      <a:buSzTx/>
      <a:buFontTx/>
      <a:buNone/>
      <a:tabLst/>
      <a:defRPr b="0" baseline="0" cap="none" i="0" spc="0" strike="noStrike" sz="6400" u="none" kumimoji="0" normalizeH="0">
        <a:ln>
          <a:noFill/>
        </a:ln>
        <a:solidFill>
          <a:srgbClr val="000000"/>
        </a:solidFill>
        <a:effectLst/>
        <a:uFillTx/>
        <a:latin typeface="+mn-lt"/>
        <a:ea typeface="+mn-ea"/>
        <a:cs typeface="+mn-cs"/>
        <a:sym typeface="Calibri"/>
      </a:defRPr>
    </a:lvl8pPr>
    <a:lvl9pPr marL="0" marR="0" indent="13165117" algn="l" defTabSz="3291278" rtl="0" fontAlgn="auto" latinLnBrk="0" hangingPunct="0">
      <a:lnSpc>
        <a:spcPct val="100000"/>
      </a:lnSpc>
      <a:spcBef>
        <a:spcPts val="0"/>
      </a:spcBef>
      <a:spcAft>
        <a:spcPts val="0"/>
      </a:spcAft>
      <a:buClrTx/>
      <a:buSzTx/>
      <a:buFontTx/>
      <a:buNone/>
      <a:tabLst/>
      <a:defRPr b="0" baseline="0" cap="none" i="0" spc="0" strike="noStrike" sz="64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48" name="Shape 48"/>
          <p:cNvSpPr/>
          <p:nvPr>
            <p:ph type="sldImg"/>
          </p:nvPr>
        </p:nvSpPr>
        <p:spPr>
          <a:xfrm>
            <a:off x="1143000" y="685800"/>
            <a:ext cx="4572000" cy="3429000"/>
          </a:xfrm>
          <a:prstGeom prst="rect">
            <a:avLst/>
          </a:prstGeom>
        </p:spPr>
        <p:txBody>
          <a:bodyPr/>
          <a:lstStyle/>
          <a:p>
            <a:pPr/>
          </a:p>
        </p:txBody>
      </p:sp>
      <p:sp>
        <p:nvSpPr>
          <p:cNvPr id="49" name="Shape 4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3291278" latinLnBrk="0">
      <a:defRPr sz="1200">
        <a:latin typeface="+mn-lt"/>
        <a:ea typeface="+mn-ea"/>
        <a:cs typeface="+mn-cs"/>
        <a:sym typeface="Calibri"/>
      </a:defRPr>
    </a:lvl1pPr>
    <a:lvl2pPr indent="228600" defTabSz="3291278" latinLnBrk="0">
      <a:defRPr sz="1200">
        <a:latin typeface="+mn-lt"/>
        <a:ea typeface="+mn-ea"/>
        <a:cs typeface="+mn-cs"/>
        <a:sym typeface="Calibri"/>
      </a:defRPr>
    </a:lvl2pPr>
    <a:lvl3pPr indent="457200" defTabSz="3291278" latinLnBrk="0">
      <a:defRPr sz="1200">
        <a:latin typeface="+mn-lt"/>
        <a:ea typeface="+mn-ea"/>
        <a:cs typeface="+mn-cs"/>
        <a:sym typeface="Calibri"/>
      </a:defRPr>
    </a:lvl3pPr>
    <a:lvl4pPr indent="685800" defTabSz="3291278" latinLnBrk="0">
      <a:defRPr sz="1200">
        <a:latin typeface="+mn-lt"/>
        <a:ea typeface="+mn-ea"/>
        <a:cs typeface="+mn-cs"/>
        <a:sym typeface="Calibri"/>
      </a:defRPr>
    </a:lvl4pPr>
    <a:lvl5pPr indent="914400" defTabSz="3291278" latinLnBrk="0">
      <a:defRPr sz="1200">
        <a:latin typeface="+mn-lt"/>
        <a:ea typeface="+mn-ea"/>
        <a:cs typeface="+mn-cs"/>
        <a:sym typeface="Calibri"/>
      </a:defRPr>
    </a:lvl5pPr>
    <a:lvl6pPr indent="1143000" defTabSz="3291278" latinLnBrk="0">
      <a:defRPr sz="1200">
        <a:latin typeface="+mn-lt"/>
        <a:ea typeface="+mn-ea"/>
        <a:cs typeface="+mn-cs"/>
        <a:sym typeface="Calibri"/>
      </a:defRPr>
    </a:lvl6pPr>
    <a:lvl7pPr indent="1371600" defTabSz="3291278" latinLnBrk="0">
      <a:defRPr sz="1200">
        <a:latin typeface="+mn-lt"/>
        <a:ea typeface="+mn-ea"/>
        <a:cs typeface="+mn-cs"/>
        <a:sym typeface="Calibri"/>
      </a:defRPr>
    </a:lvl7pPr>
    <a:lvl8pPr indent="1600200" defTabSz="3291278" latinLnBrk="0">
      <a:defRPr sz="1200">
        <a:latin typeface="+mn-lt"/>
        <a:ea typeface="+mn-ea"/>
        <a:cs typeface="+mn-cs"/>
        <a:sym typeface="Calibri"/>
      </a:defRPr>
    </a:lvl8pPr>
    <a:lvl9pPr indent="1828800" defTabSz="3291278"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Slide">
    <p:spTree>
      <p:nvGrpSpPr>
        <p:cNvPr id="1" name=""/>
        <p:cNvGrpSpPr/>
        <p:nvPr/>
      </p:nvGrpSpPr>
      <p:grpSpPr>
        <a:xfrm>
          <a:off x="0" y="0"/>
          <a:ext cx="0" cy="0"/>
          <a:chOff x="0" y="0"/>
          <a:chExt cx="0" cy="0"/>
        </a:xfrm>
      </p:grpSpPr>
      <p:sp>
        <p:nvSpPr>
          <p:cNvPr id="3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Content">
    <p:spTree>
      <p:nvGrpSpPr>
        <p:cNvPr id="1" name=""/>
        <p:cNvGrpSpPr/>
        <p:nvPr/>
      </p:nvGrpSpPr>
      <p:grpSpPr>
        <a:xfrm>
          <a:off x="0" y="0"/>
          <a:ext cx="0" cy="0"/>
          <a:chOff x="0" y="0"/>
          <a:chExt cx="0" cy="0"/>
        </a:xfrm>
      </p:grpSpPr>
      <p:sp>
        <p:nvSpPr>
          <p:cNvPr id="40" name="Title Text"/>
          <p:cNvSpPr txBox="1"/>
          <p:nvPr>
            <p:ph type="title"/>
          </p:nvPr>
        </p:nvSpPr>
        <p:spPr>
          <a:xfrm>
            <a:off x="2194560" y="1318261"/>
            <a:ext cx="39502079" cy="5486401"/>
          </a:xfrm>
          <a:prstGeom prst="rect">
            <a:avLst/>
          </a:prstGeom>
        </p:spPr>
        <p:txBody>
          <a:bodyPr/>
          <a:lstStyle/>
          <a:p>
            <a:pPr/>
            <a:r>
              <a:t>Title Text</a:t>
            </a:r>
          </a:p>
        </p:txBody>
      </p:sp>
      <p:sp>
        <p:nvSpPr>
          <p:cNvPr id="41" name="Body Level One…"/>
          <p:cNvSpPr txBox="1"/>
          <p:nvPr>
            <p:ph type="body" idx="1"/>
          </p:nvPr>
        </p:nvSpPr>
        <p:spPr>
          <a:xfrm>
            <a:off x="2194560" y="7680962"/>
            <a:ext cx="39502079" cy="21724624"/>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2" name="Slide Number"/>
          <p:cNvSpPr txBox="1"/>
          <p:nvPr>
            <p:ph type="sldNum" sz="quarter" idx="2"/>
          </p:nvPr>
        </p:nvSpPr>
        <p:spPr>
          <a:xfrm>
            <a:off x="40788373" y="30940982"/>
            <a:ext cx="908268" cy="891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Relationship Id="rId5"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Rectangle 14"/>
          <p:cNvSpPr/>
          <p:nvPr/>
        </p:nvSpPr>
        <p:spPr>
          <a:xfrm>
            <a:off x="43159678" y="0"/>
            <a:ext cx="731521" cy="32918400"/>
          </a:xfrm>
          <a:prstGeom prst="rect">
            <a:avLst/>
          </a:prstGeom>
          <a:solidFill>
            <a:srgbClr val="D7E4BD"/>
          </a:solidFill>
          <a:ln w="12700">
            <a:miter lim="400000"/>
          </a:ln>
        </p:spPr>
        <p:txBody>
          <a:bodyPr lIns="45719" rIns="45719" anchor="ctr"/>
          <a:lstStyle/>
          <a:p>
            <a:pPr algn="ctr">
              <a:defRPr>
                <a:solidFill>
                  <a:srgbClr val="FFFFFF"/>
                </a:solidFill>
              </a:defRPr>
            </a:pPr>
          </a:p>
        </p:txBody>
      </p:sp>
      <p:sp>
        <p:nvSpPr>
          <p:cNvPr id="3" name="Rectangle 15"/>
          <p:cNvSpPr/>
          <p:nvPr/>
        </p:nvSpPr>
        <p:spPr>
          <a:xfrm>
            <a:off x="-1" y="0"/>
            <a:ext cx="731522" cy="32918400"/>
          </a:xfrm>
          <a:prstGeom prst="rect">
            <a:avLst/>
          </a:prstGeom>
          <a:solidFill>
            <a:srgbClr val="D7E4BD"/>
          </a:solidFill>
          <a:ln w="12700">
            <a:miter lim="400000"/>
          </a:ln>
        </p:spPr>
        <p:txBody>
          <a:bodyPr lIns="45719" rIns="45719" anchor="ctr"/>
          <a:lstStyle/>
          <a:p>
            <a:pPr algn="ctr">
              <a:defRPr>
                <a:solidFill>
                  <a:srgbClr val="FFFFFF"/>
                </a:solidFill>
              </a:defRPr>
            </a:pPr>
          </a:p>
        </p:txBody>
      </p:sp>
      <p:sp>
        <p:nvSpPr>
          <p:cNvPr id="4" name="Rectangle 16"/>
          <p:cNvSpPr/>
          <p:nvPr/>
        </p:nvSpPr>
        <p:spPr>
          <a:xfrm>
            <a:off x="0" y="0"/>
            <a:ext cx="43891200" cy="4114800"/>
          </a:xfrm>
          <a:prstGeom prst="rect">
            <a:avLst/>
          </a:prstGeom>
          <a:solidFill>
            <a:srgbClr val="376092"/>
          </a:solidFill>
          <a:ln w="12700">
            <a:miter lim="400000"/>
          </a:ln>
        </p:spPr>
        <p:txBody>
          <a:bodyPr lIns="45719" rIns="45719" anchor="ctr"/>
          <a:lstStyle/>
          <a:p>
            <a:pPr algn="ctr">
              <a:defRPr>
                <a:solidFill>
                  <a:srgbClr val="FFFFFF"/>
                </a:solidFill>
              </a:defRPr>
            </a:pPr>
          </a:p>
        </p:txBody>
      </p:sp>
      <p:sp>
        <p:nvSpPr>
          <p:cNvPr id="5" name="Rectangle 17"/>
          <p:cNvSpPr/>
          <p:nvPr/>
        </p:nvSpPr>
        <p:spPr>
          <a:xfrm>
            <a:off x="0" y="28803600"/>
            <a:ext cx="43891200" cy="4114800"/>
          </a:xfrm>
          <a:prstGeom prst="rect">
            <a:avLst/>
          </a:prstGeom>
          <a:solidFill>
            <a:srgbClr val="B9CDE5"/>
          </a:solidFill>
          <a:ln w="12700">
            <a:miter lim="400000"/>
          </a:ln>
        </p:spPr>
        <p:txBody>
          <a:bodyPr lIns="45719" rIns="45719" anchor="ctr"/>
          <a:lstStyle/>
          <a:p>
            <a:pPr algn="ctr">
              <a:defRPr>
                <a:solidFill>
                  <a:srgbClr val="FFFFFF"/>
                </a:solidFill>
              </a:defRPr>
            </a:pPr>
          </a:p>
        </p:txBody>
      </p:sp>
      <p:grpSp>
        <p:nvGrpSpPr>
          <p:cNvPr id="8" name="Instructions"/>
          <p:cNvGrpSpPr/>
          <p:nvPr/>
        </p:nvGrpSpPr>
        <p:grpSpPr>
          <a:xfrm>
            <a:off x="-10515600" y="0"/>
            <a:ext cx="9601200" cy="33769936"/>
            <a:chOff x="0" y="0"/>
            <a:chExt cx="9601200" cy="33769936"/>
          </a:xfrm>
        </p:grpSpPr>
        <p:sp>
          <p:nvSpPr>
            <p:cNvPr id="6" name="Rectangle"/>
            <p:cNvSpPr/>
            <p:nvPr/>
          </p:nvSpPr>
          <p:spPr>
            <a:xfrm>
              <a:off x="0" y="0"/>
              <a:ext cx="9601200" cy="32918400"/>
            </a:xfrm>
            <a:prstGeom prst="rect">
              <a:avLst/>
            </a:prstGeom>
            <a:solidFill>
              <a:srgbClr val="D9D9D9"/>
            </a:solidFill>
            <a:ln w="12700" cap="flat">
              <a:noFill/>
              <a:miter lim="400000"/>
            </a:ln>
            <a:effectLst/>
          </p:spPr>
          <p:txBody>
            <a:bodyPr wrap="square" lIns="45719" tIns="45719" rIns="45719" bIns="45719" numCol="1" anchor="t">
              <a:noAutofit/>
            </a:bodyPr>
            <a:lstStyle/>
            <a:p>
              <a:pPr algn="ctr" defTabSz="3686861">
                <a:spcBef>
                  <a:spcPts val="1800"/>
                </a:spcBef>
                <a:defRPr sz="7200">
                  <a:solidFill>
                    <a:srgbClr val="FFFFFF"/>
                  </a:solidFill>
                </a:defRPr>
              </a:pPr>
            </a:p>
          </p:txBody>
        </p:sp>
        <p:sp>
          <p:nvSpPr>
            <p:cNvPr id="7" name="Poster Print Size:…"/>
            <p:cNvSpPr txBox="1"/>
            <p:nvPr/>
          </p:nvSpPr>
          <p:spPr>
            <a:xfrm>
              <a:off x="0" y="0"/>
              <a:ext cx="9601200" cy="337699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71421" tIns="171421" rIns="171421" bIns="171421" numCol="1" anchor="t">
              <a:spAutoFit/>
            </a:bodyPr>
            <a:lstStyle/>
            <a:p>
              <a:pPr defTabSz="3686861">
                <a:spcBef>
                  <a:spcPts val="1800"/>
                </a:spcBef>
                <a:defRPr sz="7200">
                  <a:solidFill>
                    <a:srgbClr val="7F7F7F"/>
                  </a:solidFill>
                </a:defRPr>
              </a:pPr>
              <a:r>
                <a:t>Poster Print Size:</a:t>
              </a:r>
            </a:p>
            <a:p>
              <a:pPr defTabSz="3686861">
                <a:spcBef>
                  <a:spcPts val="1800"/>
                </a:spcBef>
                <a:defRPr sz="4900">
                  <a:solidFill>
                    <a:srgbClr val="7F7F7F"/>
                  </a:solidFill>
                </a:defRPr>
              </a:pPr>
              <a:r>
                <a:t>This poster template is 36” high by 48” wide. It can be used to print a Tri-Fold poster with 12” wings.</a:t>
              </a:r>
              <a:endParaRPr sz="7200">
                <a:solidFill>
                  <a:srgbClr val="FFFFFF"/>
                </a:solidFill>
              </a:endParaRPr>
            </a:p>
            <a:p>
              <a:pPr defTabSz="3686861">
                <a:spcBef>
                  <a:spcPts val="1800"/>
                </a:spcBef>
                <a:defRPr sz="7200">
                  <a:solidFill>
                    <a:srgbClr val="7F7F7F"/>
                  </a:solidFill>
                </a:defRPr>
              </a:pPr>
              <a:r>
                <a:t>Placeholders:</a:t>
              </a:r>
              <a:endParaRPr>
                <a:solidFill>
                  <a:srgbClr val="FFFFFF"/>
                </a:solidFill>
              </a:endParaRPr>
            </a:p>
            <a:p>
              <a:pPr defTabSz="3686861">
                <a:spcBef>
                  <a:spcPts val="1800"/>
                </a:spcBef>
                <a:defRPr sz="4900">
                  <a:solidFill>
                    <a:srgbClr val="7F7F7F"/>
                  </a:solidFill>
                </a:defRPr>
              </a:pPr>
              <a:r>
                <a:t>The </a:t>
              </a:r>
              <a:r>
                <a:t>various elements included</a:t>
              </a:r>
              <a:r>
                <a:t> in this </a:t>
              </a:r>
              <a:r>
                <a:t>poster are ones we often see in medical, research, and scientific posters.</a:t>
              </a:r>
              <a:r>
                <a:t> </a:t>
              </a:r>
              <a:r>
                <a:t>Feel free to edit, move,  add, and delete items, or change the layout to suit your needs. Always check with your conference organizer for specific requirements.</a:t>
              </a:r>
              <a:endParaRPr sz="7200">
                <a:solidFill>
                  <a:srgbClr val="FFFFFF"/>
                </a:solidFill>
              </a:endParaRPr>
            </a:p>
            <a:p>
              <a:pPr defTabSz="3686861">
                <a:spcBef>
                  <a:spcPts val="1800"/>
                </a:spcBef>
                <a:defRPr sz="7200">
                  <a:solidFill>
                    <a:srgbClr val="7F7F7F"/>
                  </a:solidFill>
                </a:defRPr>
              </a:pPr>
              <a:r>
                <a:t>Image Quality:</a:t>
              </a:r>
              <a:endParaRPr>
                <a:solidFill>
                  <a:srgbClr val="FFFFFF"/>
                </a:solidFill>
              </a:endParaRPr>
            </a:p>
            <a:p>
              <a:pPr defTabSz="3686861">
                <a:spcBef>
                  <a:spcPts val="1800"/>
                </a:spcBef>
                <a:defRPr sz="4900">
                  <a:solidFill>
                    <a:srgbClr val="7F7F7F"/>
                  </a:solidFill>
                </a:defRPr>
              </a:pPr>
              <a:r>
                <a:t>You can place digital photos or logo art in your poster file by selecting the </a:t>
              </a:r>
              <a:r>
                <a:rPr b="1"/>
                <a:t>Insert, Picture</a:t>
              </a:r>
              <a:r>
                <a:t> command, or by using standard copy &amp; paste. For best results, all graphic elements should be at least </a:t>
              </a:r>
              <a:r>
                <a:rPr b="1"/>
                <a:t>150-200 pixels per inch in their final printed size</a:t>
              </a:r>
              <a:r>
                <a:t>. For instance, a 1600 x 1200 pixel photo will usually look fine up to 8“-10” wide on your printed poster.</a:t>
              </a:r>
              <a:endParaRPr sz="7200">
                <a:solidFill>
                  <a:srgbClr val="FFFFFF"/>
                </a:solidFill>
              </a:endParaRPr>
            </a:p>
            <a:p>
              <a:pPr defTabSz="3686861">
                <a:spcBef>
                  <a:spcPts val="1800"/>
                </a:spcBef>
                <a:defRPr sz="4900">
                  <a:solidFill>
                    <a:srgbClr val="7F7F7F"/>
                  </a:solidFill>
                </a:defRPr>
              </a:pPr>
              <a: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endParaRPr sz="7200">
                <a:solidFill>
                  <a:srgbClr val="FFFFFF"/>
                </a:solidFill>
              </a:endParaRPr>
            </a:p>
            <a:p>
              <a:pPr defTabSz="3686861">
                <a:spcBef>
                  <a:spcPts val="1800"/>
                </a:spcBef>
                <a:defRPr sz="4900">
                  <a:solidFill>
                    <a:srgbClr val="7F7F7F"/>
                  </a:solidFill>
                </a:defRPr>
              </a:pPr>
              <a:r>
                <a:t>Please note that graphics from websites (such as the logo on your hospital's or university's home page) will only be 72dpi and not suitable for printing.</a:t>
              </a:r>
              <a:endParaRPr sz="7200">
                <a:solidFill>
                  <a:srgbClr val="FFFFFF"/>
                </a:solidFill>
              </a:endParaRPr>
            </a:p>
            <a:p>
              <a:pPr algn="ctr" defTabSz="3686861">
                <a:spcBef>
                  <a:spcPts val="1800"/>
                </a:spcBef>
                <a:defRPr sz="3600">
                  <a:solidFill>
                    <a:srgbClr val="7F7F7F"/>
                  </a:solidFill>
                </a:defRPr>
              </a:pPr>
              <a:br>
                <a:rPr sz="7200">
                  <a:solidFill>
                    <a:srgbClr val="FFFFFF"/>
                  </a:solidFill>
                </a:rPr>
              </a:br>
              <a:r>
                <a:t>[This sidebar area does not print.]</a:t>
              </a:r>
            </a:p>
          </p:txBody>
        </p:sp>
      </p:grpSp>
      <p:grpSp>
        <p:nvGrpSpPr>
          <p:cNvPr id="13" name="Group 11"/>
          <p:cNvGrpSpPr/>
          <p:nvPr/>
        </p:nvGrpSpPr>
        <p:grpSpPr>
          <a:xfrm>
            <a:off x="44805600" y="0"/>
            <a:ext cx="9601200" cy="33833495"/>
            <a:chOff x="0" y="0"/>
            <a:chExt cx="9601200" cy="33833494"/>
          </a:xfrm>
        </p:grpSpPr>
        <p:grpSp>
          <p:nvGrpSpPr>
            <p:cNvPr id="11" name="Instructions"/>
            <p:cNvGrpSpPr/>
            <p:nvPr/>
          </p:nvGrpSpPr>
          <p:grpSpPr>
            <a:xfrm>
              <a:off x="0" y="0"/>
              <a:ext cx="9601200" cy="33833495"/>
              <a:chOff x="0" y="0"/>
              <a:chExt cx="9601200" cy="33833494"/>
            </a:xfrm>
          </p:grpSpPr>
          <p:sp>
            <p:nvSpPr>
              <p:cNvPr id="9" name="Rectangle"/>
              <p:cNvSpPr/>
              <p:nvPr/>
            </p:nvSpPr>
            <p:spPr>
              <a:xfrm>
                <a:off x="0" y="0"/>
                <a:ext cx="9601200" cy="32918400"/>
              </a:xfrm>
              <a:prstGeom prst="rect">
                <a:avLst/>
              </a:prstGeom>
              <a:solidFill>
                <a:srgbClr val="D9D9D9"/>
              </a:solidFill>
              <a:ln w="12700" cap="flat">
                <a:noFill/>
                <a:miter lim="400000"/>
              </a:ln>
              <a:effectLst/>
            </p:spPr>
            <p:txBody>
              <a:bodyPr wrap="square" lIns="45719" tIns="45719" rIns="45719" bIns="45719" numCol="1" anchor="t">
                <a:noAutofit/>
              </a:bodyPr>
              <a:lstStyle/>
              <a:p>
                <a:pPr algn="ctr" defTabSz="3686861">
                  <a:defRPr sz="7200">
                    <a:solidFill>
                      <a:srgbClr val="FFFFFF"/>
                    </a:solidFill>
                  </a:defRPr>
                </a:pPr>
              </a:p>
            </p:txBody>
          </p:sp>
          <p:sp>
            <p:nvSpPr>
              <p:cNvPr id="10" name="Change Color Theme:…"/>
              <p:cNvSpPr txBox="1"/>
              <p:nvPr/>
            </p:nvSpPr>
            <p:spPr>
              <a:xfrm>
                <a:off x="0" y="0"/>
                <a:ext cx="9601200" cy="3383349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28600" tIns="228600" rIns="228600" bIns="228600" numCol="1" anchor="t">
                <a:spAutoFit/>
              </a:bodyPr>
              <a:lstStyle/>
              <a:p>
                <a:pPr defTabSz="3686861">
                  <a:spcBef>
                    <a:spcPts val="1800"/>
                  </a:spcBef>
                  <a:defRPr sz="7200">
                    <a:solidFill>
                      <a:srgbClr val="808080"/>
                    </a:solidFill>
                  </a:defRPr>
                </a:pPr>
                <a:r>
                  <a:t>Change Color Theme:</a:t>
                </a:r>
              </a:p>
              <a:p>
                <a:pPr defTabSz="3686861">
                  <a:spcBef>
                    <a:spcPts val="1800"/>
                  </a:spcBef>
                  <a:defRPr sz="4900">
                    <a:solidFill>
                      <a:srgbClr val="808080"/>
                    </a:solidFill>
                  </a:defRPr>
                </a:pPr>
                <a:r>
                  <a:t>This template is designed to use the built-in color themes in the newer versions of PowerPoint.</a:t>
                </a:r>
                <a:endParaRPr sz="7200">
                  <a:solidFill>
                    <a:srgbClr val="FFFFFF"/>
                  </a:solidFill>
                </a:endParaRPr>
              </a:p>
              <a:p>
                <a:pPr defTabSz="3686861">
                  <a:spcBef>
                    <a:spcPts val="1800"/>
                  </a:spcBef>
                  <a:defRPr sz="4900">
                    <a:solidFill>
                      <a:srgbClr val="808080"/>
                    </a:solidFill>
                  </a:defRPr>
                </a:pPr>
                <a:r>
                  <a:t>To change the color theme, select the </a:t>
                </a:r>
                <a:r>
                  <a:rPr b="1"/>
                  <a:t>Design</a:t>
                </a:r>
                <a:r>
                  <a:t> tab, then select the </a:t>
                </a:r>
                <a:r>
                  <a:rPr b="1"/>
                  <a:t>Colors</a:t>
                </a:r>
                <a:r>
                  <a:t> drop-down list.</a:t>
                </a:r>
                <a:endParaRPr sz="7200">
                  <a:solidFill>
                    <a:srgbClr val="FFFFFF"/>
                  </a:solidFill>
                </a:endParaRPr>
              </a:p>
              <a:p>
                <a:pPr defTabSz="3686861">
                  <a:spcBef>
                    <a:spcPts val="1800"/>
                  </a:spcBef>
                  <a:defRPr sz="4900">
                    <a:solidFill>
                      <a:srgbClr val="808080"/>
                    </a:solidFill>
                  </a:defRPr>
                </a:pPr>
              </a:p>
              <a:p>
                <a:pPr defTabSz="3686861">
                  <a:spcBef>
                    <a:spcPts val="1800"/>
                  </a:spcBef>
                  <a:defRPr sz="4900">
                    <a:solidFill>
                      <a:srgbClr val="808080"/>
                    </a:solidFill>
                  </a:defRPr>
                </a:pPr>
              </a:p>
              <a:p>
                <a:pPr defTabSz="3686861">
                  <a:spcBef>
                    <a:spcPts val="1800"/>
                  </a:spcBef>
                  <a:defRPr sz="4900">
                    <a:solidFill>
                      <a:srgbClr val="808080"/>
                    </a:solidFill>
                  </a:defRPr>
                </a:pPr>
              </a:p>
              <a:p>
                <a:pPr defTabSz="3686861">
                  <a:spcBef>
                    <a:spcPts val="1800"/>
                  </a:spcBef>
                  <a:defRPr sz="4900">
                    <a:solidFill>
                      <a:srgbClr val="808080"/>
                    </a:solidFill>
                  </a:defRPr>
                </a:pPr>
              </a:p>
              <a:p>
                <a:pPr defTabSz="3686861">
                  <a:spcBef>
                    <a:spcPts val="1800"/>
                  </a:spcBef>
                  <a:defRPr sz="4900">
                    <a:solidFill>
                      <a:srgbClr val="808080"/>
                    </a:solidFill>
                  </a:defRPr>
                </a:pPr>
              </a:p>
              <a:p>
                <a:pPr defTabSz="3686861">
                  <a:spcBef>
                    <a:spcPts val="1800"/>
                  </a:spcBef>
                  <a:defRPr sz="4900">
                    <a:solidFill>
                      <a:srgbClr val="808080"/>
                    </a:solidFill>
                  </a:defRPr>
                </a:pPr>
              </a:p>
              <a:p>
                <a:pPr defTabSz="3686861">
                  <a:spcBef>
                    <a:spcPts val="1800"/>
                  </a:spcBef>
                  <a:defRPr sz="4900">
                    <a:solidFill>
                      <a:srgbClr val="808080"/>
                    </a:solidFill>
                  </a:defRPr>
                </a:pPr>
              </a:p>
              <a:p>
                <a:pPr defTabSz="3686861">
                  <a:spcBef>
                    <a:spcPts val="1800"/>
                  </a:spcBef>
                  <a:defRPr sz="4900">
                    <a:solidFill>
                      <a:srgbClr val="808080"/>
                    </a:solidFill>
                  </a:defRPr>
                </a:pPr>
              </a:p>
              <a:p>
                <a:pPr defTabSz="3686861">
                  <a:spcBef>
                    <a:spcPts val="1800"/>
                  </a:spcBef>
                  <a:defRPr sz="4900">
                    <a:solidFill>
                      <a:srgbClr val="808080"/>
                    </a:solidFill>
                  </a:defRPr>
                </a:pPr>
              </a:p>
              <a:p>
                <a:pPr defTabSz="3686861">
                  <a:spcBef>
                    <a:spcPts val="1800"/>
                  </a:spcBef>
                  <a:defRPr sz="4900">
                    <a:solidFill>
                      <a:srgbClr val="808080"/>
                    </a:solidFill>
                  </a:defRPr>
                </a:pPr>
                <a:r>
                  <a:t>The default color theme for this template is “Office”, so you can always return to that after trying some of the alternatives.</a:t>
                </a:r>
                <a:endParaRPr sz="7200">
                  <a:solidFill>
                    <a:srgbClr val="FFFFFF"/>
                  </a:solidFill>
                </a:endParaRPr>
              </a:p>
              <a:p>
                <a:pPr defTabSz="3686861">
                  <a:spcBef>
                    <a:spcPts val="1800"/>
                  </a:spcBef>
                  <a:defRPr sz="7200">
                    <a:solidFill>
                      <a:srgbClr val="808080"/>
                    </a:solidFill>
                  </a:defRPr>
                </a:pPr>
                <a:r>
                  <a:t>Printing Your Poster:</a:t>
                </a:r>
                <a:endParaRPr>
                  <a:solidFill>
                    <a:srgbClr val="FFFFFF"/>
                  </a:solidFill>
                </a:endParaRPr>
              </a:p>
              <a:p>
                <a:pPr defTabSz="3686861">
                  <a:spcBef>
                    <a:spcPts val="1800"/>
                  </a:spcBef>
                  <a:defRPr sz="4900">
                    <a:solidFill>
                      <a:srgbClr val="808080"/>
                    </a:solidFill>
                  </a:defRPr>
                </a:pPr>
                <a:r>
                  <a:t>Once your poster file is ready, visit </a:t>
                </a:r>
                <a:r>
                  <a:rPr b="1"/>
                  <a:t>www.genigraphics.com</a:t>
                </a:r>
                <a:r>
                  <a:t> to order a high-quality, affordable poster print. Every order receives a free design review and we can deliver as fast as next business day within the US and Canada. </a:t>
                </a:r>
                <a:endParaRPr sz="7200">
                  <a:solidFill>
                    <a:srgbClr val="FFFFFF"/>
                  </a:solidFill>
                </a:endParaRPr>
              </a:p>
              <a:p>
                <a:pPr defTabSz="3686861">
                  <a:spcBef>
                    <a:spcPts val="1800"/>
                  </a:spcBef>
                  <a:defRPr sz="4900">
                    <a:solidFill>
                      <a:srgbClr val="808080"/>
                    </a:solidFill>
                  </a:defRPr>
                </a:pPr>
                <a:r>
                  <a:t>Genigraphics® has been producing output from PowerPoint® longer than anyone in the industry; dating back to when we helped Microsoft® design the PowerPoint® software. </a:t>
                </a:r>
                <a:endParaRPr sz="7200">
                  <a:solidFill>
                    <a:srgbClr val="FFFFFF"/>
                  </a:solidFill>
                </a:endParaRPr>
              </a:p>
              <a:p>
                <a:pPr defTabSz="3686861">
                  <a:defRPr sz="4900">
                    <a:solidFill>
                      <a:srgbClr val="808080"/>
                    </a:solidFill>
                  </a:defRPr>
                </a:pPr>
              </a:p>
              <a:p>
                <a:pPr algn="ctr" defTabSz="3686861">
                  <a:defRPr sz="4900">
                    <a:solidFill>
                      <a:srgbClr val="808080"/>
                    </a:solidFill>
                  </a:defRPr>
                </a:pPr>
                <a:r>
                  <a:t>US and Canada:  1-800-790-4001</a:t>
                </a:r>
                <a:br/>
                <a:r>
                  <a:t>Email: info@genigraphics.com</a:t>
                </a:r>
                <a:endParaRPr sz="7200">
                  <a:solidFill>
                    <a:srgbClr val="FFFFFF"/>
                  </a:solidFill>
                </a:endParaRPr>
              </a:p>
              <a:p>
                <a:pPr algn="ctr" defTabSz="3686861">
                  <a:defRPr sz="3600">
                    <a:solidFill>
                      <a:srgbClr val="808080"/>
                    </a:solidFill>
                  </a:defRPr>
                </a:pPr>
                <a:br>
                  <a:rPr sz="7200">
                    <a:solidFill>
                      <a:srgbClr val="FFFFFF"/>
                    </a:solidFill>
                  </a:rPr>
                </a:br>
                <a:r>
                  <a:t>[This sidebar area does not print.]</a:t>
                </a:r>
              </a:p>
            </p:txBody>
          </p:sp>
        </p:grpSp>
        <p:pic>
          <p:nvPicPr>
            <p:cNvPr id="12" name="Picture 13" descr="Picture 13"/>
            <p:cNvPicPr>
              <a:picLocks noChangeAspect="1"/>
            </p:cNvPicPr>
            <p:nvPr/>
          </p:nvPicPr>
          <p:blipFill>
            <a:blip r:embed="rId2">
              <a:extLst/>
            </a:blip>
            <a:stretch>
              <a:fillRect/>
            </a:stretch>
          </p:blipFill>
          <p:spPr>
            <a:xfrm>
              <a:off x="336406" y="6945205"/>
              <a:ext cx="8928387" cy="7685196"/>
            </a:xfrm>
            <a:prstGeom prst="rect">
              <a:avLst/>
            </a:prstGeom>
            <a:ln w="12700" cap="flat">
              <a:noFill/>
              <a:miter lim="400000"/>
            </a:ln>
            <a:effectLst/>
          </p:spPr>
        </p:pic>
      </p:grpSp>
      <p:grpSp>
        <p:nvGrpSpPr>
          <p:cNvPr id="22" name="Group 7"/>
          <p:cNvGrpSpPr/>
          <p:nvPr/>
        </p:nvGrpSpPr>
        <p:grpSpPr>
          <a:xfrm>
            <a:off x="7079006" y="-1257299"/>
            <a:ext cx="29807853" cy="35653976"/>
            <a:chOff x="0" y="0"/>
            <a:chExt cx="29807853" cy="35653976"/>
          </a:xfrm>
        </p:grpSpPr>
        <p:sp>
          <p:nvSpPr>
            <p:cNvPr id="14" name="TextBox 1"/>
            <p:cNvSpPr txBox="1"/>
            <p:nvPr/>
          </p:nvSpPr>
          <p:spPr>
            <a:xfrm>
              <a:off x="0" y="10031"/>
              <a:ext cx="3518853" cy="9026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7F7F7F"/>
                  </a:solidFill>
                </a:defRPr>
              </a:lvl1pPr>
            </a:lstStyle>
            <a:p>
              <a:pPr/>
              <a:r>
                <a:t>Folds here</a:t>
              </a:r>
            </a:p>
          </p:txBody>
        </p:sp>
        <p:sp>
          <p:nvSpPr>
            <p:cNvPr id="15" name="Straight Arrow Connector 3"/>
            <p:cNvSpPr/>
            <p:nvPr/>
          </p:nvSpPr>
          <p:spPr>
            <a:xfrm>
              <a:off x="3893793" y="0"/>
              <a:ext cx="1" cy="1097280"/>
            </a:xfrm>
            <a:prstGeom prst="line">
              <a:avLst/>
            </a:prstGeom>
            <a:noFill/>
            <a:ln w="63500" cap="flat">
              <a:solidFill>
                <a:srgbClr val="7F7F7F"/>
              </a:solidFill>
              <a:prstDash val="solid"/>
              <a:round/>
              <a:tailEnd type="triangle" w="med" len="med"/>
            </a:ln>
            <a:effectLst/>
          </p:spPr>
          <p:txBody>
            <a:bodyPr wrap="square" lIns="45719" tIns="45719" rIns="45719" bIns="45719" numCol="1" anchor="t">
              <a:noAutofit/>
            </a:bodyPr>
            <a:lstStyle/>
            <a:p>
              <a:pPr/>
            </a:p>
          </p:txBody>
        </p:sp>
        <p:sp>
          <p:nvSpPr>
            <p:cNvPr id="16" name="TextBox 18"/>
            <p:cNvSpPr txBox="1"/>
            <p:nvPr/>
          </p:nvSpPr>
          <p:spPr>
            <a:xfrm>
              <a:off x="26289000" y="10031"/>
              <a:ext cx="3518853" cy="9026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7F7F7F"/>
                  </a:solidFill>
                </a:defRPr>
              </a:lvl1pPr>
            </a:lstStyle>
            <a:p>
              <a:pPr/>
              <a:r>
                <a:t>Folds here</a:t>
              </a:r>
            </a:p>
          </p:txBody>
        </p:sp>
        <p:sp>
          <p:nvSpPr>
            <p:cNvPr id="17" name="Straight Arrow Connector 19"/>
            <p:cNvSpPr/>
            <p:nvPr/>
          </p:nvSpPr>
          <p:spPr>
            <a:xfrm>
              <a:off x="25839393" y="0"/>
              <a:ext cx="1" cy="1097280"/>
            </a:xfrm>
            <a:prstGeom prst="line">
              <a:avLst/>
            </a:prstGeom>
            <a:noFill/>
            <a:ln w="63500" cap="flat">
              <a:solidFill>
                <a:srgbClr val="7F7F7F"/>
              </a:solidFill>
              <a:prstDash val="solid"/>
              <a:round/>
              <a:tailEnd type="triangle" w="med" len="med"/>
            </a:ln>
            <a:effectLst/>
          </p:spPr>
          <p:txBody>
            <a:bodyPr wrap="square" lIns="45719" tIns="45719" rIns="45719" bIns="45719" numCol="1" anchor="t">
              <a:noAutofit/>
            </a:bodyPr>
            <a:lstStyle/>
            <a:p>
              <a:pPr/>
            </a:p>
          </p:txBody>
        </p:sp>
        <p:sp>
          <p:nvSpPr>
            <p:cNvPr id="18" name="TextBox 20"/>
            <p:cNvSpPr txBox="1"/>
            <p:nvPr/>
          </p:nvSpPr>
          <p:spPr>
            <a:xfrm>
              <a:off x="0" y="34566728"/>
              <a:ext cx="3518853" cy="9026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7F7F7F"/>
                  </a:solidFill>
                </a:defRPr>
              </a:lvl1pPr>
            </a:lstStyle>
            <a:p>
              <a:pPr/>
              <a:r>
                <a:t>Folds here</a:t>
              </a:r>
            </a:p>
          </p:txBody>
        </p:sp>
        <p:sp>
          <p:nvSpPr>
            <p:cNvPr id="19" name="Straight Arrow Connector 21"/>
            <p:cNvSpPr/>
            <p:nvPr/>
          </p:nvSpPr>
          <p:spPr>
            <a:xfrm>
              <a:off x="3893793" y="34556697"/>
              <a:ext cx="1" cy="1097280"/>
            </a:xfrm>
            <a:prstGeom prst="line">
              <a:avLst/>
            </a:prstGeom>
            <a:noFill/>
            <a:ln w="63500" cap="flat">
              <a:solidFill>
                <a:srgbClr val="7F7F7F"/>
              </a:solidFill>
              <a:prstDash val="solid"/>
              <a:round/>
              <a:headEnd type="triangle" w="med" len="med"/>
            </a:ln>
            <a:effectLst/>
          </p:spPr>
          <p:txBody>
            <a:bodyPr wrap="square" lIns="45719" tIns="45719" rIns="45719" bIns="45719" numCol="1" anchor="t">
              <a:noAutofit/>
            </a:bodyPr>
            <a:lstStyle/>
            <a:p>
              <a:pPr/>
            </a:p>
          </p:txBody>
        </p:sp>
        <p:sp>
          <p:nvSpPr>
            <p:cNvPr id="20" name="TextBox 22"/>
            <p:cNvSpPr txBox="1"/>
            <p:nvPr/>
          </p:nvSpPr>
          <p:spPr>
            <a:xfrm>
              <a:off x="26289000" y="34566728"/>
              <a:ext cx="3518853" cy="90265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a:solidFill>
                    <a:srgbClr val="7F7F7F"/>
                  </a:solidFill>
                </a:defRPr>
              </a:lvl1pPr>
            </a:lstStyle>
            <a:p>
              <a:pPr/>
              <a:r>
                <a:t>Folds here</a:t>
              </a:r>
            </a:p>
          </p:txBody>
        </p:sp>
        <p:sp>
          <p:nvSpPr>
            <p:cNvPr id="21" name="Straight Arrow Connector 23"/>
            <p:cNvSpPr/>
            <p:nvPr/>
          </p:nvSpPr>
          <p:spPr>
            <a:xfrm>
              <a:off x="25839393" y="34556697"/>
              <a:ext cx="1" cy="1097280"/>
            </a:xfrm>
            <a:prstGeom prst="line">
              <a:avLst/>
            </a:prstGeom>
            <a:noFill/>
            <a:ln w="63500" cap="flat">
              <a:solidFill>
                <a:srgbClr val="7F7F7F"/>
              </a:solidFill>
              <a:prstDash val="solid"/>
              <a:round/>
              <a:headEnd type="triangle" w="med" len="med"/>
            </a:ln>
            <a:effectLst/>
          </p:spPr>
          <p:txBody>
            <a:bodyPr wrap="square" lIns="45719" tIns="45719" rIns="45719" bIns="45719" numCol="1" anchor="t">
              <a:noAutofit/>
            </a:bodyPr>
            <a:lstStyle/>
            <a:p>
              <a:pPr/>
            </a:p>
          </p:txBody>
        </p:sp>
      </p:grpSp>
      <p:pic>
        <p:nvPicPr>
          <p:cNvPr id="23" name="Picture 2" descr="Picture 2"/>
          <p:cNvPicPr>
            <a:picLocks noChangeAspect="1"/>
          </p:cNvPicPr>
          <p:nvPr/>
        </p:nvPicPr>
        <p:blipFill>
          <a:blip r:embed="rId3">
            <a:extLst/>
          </a:blip>
          <a:stretch>
            <a:fillRect/>
          </a:stretch>
        </p:blipFill>
        <p:spPr>
          <a:xfrm>
            <a:off x="38404800" y="32613600"/>
            <a:ext cx="5297436" cy="185929"/>
          </a:xfrm>
          <a:prstGeom prst="rect">
            <a:avLst/>
          </a:prstGeom>
          <a:ln w="12700">
            <a:miter lim="400000"/>
          </a:ln>
        </p:spPr>
      </p:pic>
      <p:sp>
        <p:nvSpPr>
          <p:cNvPr id="24" name="Title Text"/>
          <p:cNvSpPr txBox="1"/>
          <p:nvPr>
            <p:ph type="title"/>
          </p:nvPr>
        </p:nvSpPr>
        <p:spPr>
          <a:xfrm>
            <a:off x="2194560" y="441959"/>
            <a:ext cx="39502080" cy="7239001"/>
          </a:xfrm>
          <a:prstGeom prst="rect">
            <a:avLst/>
          </a:prstGeom>
          <a:ln w="12700">
            <a:miter lim="400000"/>
          </a:ln>
          <a:extLst>
            <a:ext uri="{C572A759-6A51-4108-AA02-DFA0A04FC94B}">
              <ma14:wrappingTextBoxFlag xmlns:ma14="http://schemas.microsoft.com/office/mac/drawingml/2011/main" val="1"/>
            </a:ext>
          </a:extLst>
        </p:spPr>
        <p:txBody>
          <a:bodyPr lIns="164563" tIns="164563" rIns="164563" bIns="164563" anchor="ctr">
            <a:normAutofit fontScale="100000" lnSpcReduction="0"/>
          </a:bodyPr>
          <a:lstStyle/>
          <a:p>
            <a:pPr/>
            <a:r>
              <a:t>Title Text</a:t>
            </a:r>
          </a:p>
        </p:txBody>
      </p:sp>
      <p:sp>
        <p:nvSpPr>
          <p:cNvPr id="25" name="Body Level One…"/>
          <p:cNvSpPr txBox="1"/>
          <p:nvPr>
            <p:ph type="body" idx="1"/>
          </p:nvPr>
        </p:nvSpPr>
        <p:spPr>
          <a:xfrm>
            <a:off x="2194560" y="7680959"/>
            <a:ext cx="39502080" cy="25237443"/>
          </a:xfrm>
          <a:prstGeom prst="rect">
            <a:avLst/>
          </a:prstGeom>
          <a:ln w="12700">
            <a:miter lim="400000"/>
          </a:ln>
          <a:extLst>
            <a:ext uri="{C572A759-6A51-4108-AA02-DFA0A04FC94B}">
              <ma14:wrappingTextBoxFlag xmlns:ma14="http://schemas.microsoft.com/office/mac/drawingml/2011/main" val="1"/>
            </a:ext>
          </a:extLst>
        </p:spPr>
        <p:txBody>
          <a:bodyPr lIns="164563" tIns="164563" rIns="164563" bIns="164563">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26" name="Slide Number"/>
          <p:cNvSpPr txBox="1"/>
          <p:nvPr>
            <p:ph type="sldNum" sz="quarter" idx="2"/>
          </p:nvPr>
        </p:nvSpPr>
        <p:spPr>
          <a:xfrm>
            <a:off x="21214079" y="29634180"/>
            <a:ext cx="10241281" cy="1752600"/>
          </a:xfrm>
          <a:prstGeom prst="rect">
            <a:avLst/>
          </a:prstGeom>
          <a:ln w="12700">
            <a:miter lim="400000"/>
          </a:ln>
        </p:spPr>
        <p:txBody>
          <a:bodyPr wrap="none" lIns="164563" tIns="164563" rIns="164563" bIns="164563" anchor="ctr">
            <a:spAutoFit/>
          </a:bodyPr>
          <a:lstStyle>
            <a:lvl1pPr algn="r">
              <a:defRPr sz="44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4"/>
    <p:sldLayoutId id="2147483650" r:id="rId5"/>
  </p:sldLayoutIdLst>
  <p:transition xmlns:p14="http://schemas.microsoft.com/office/powerpoint/2010/main" spd="med" advClick="1"/>
  <p:txStyles>
    <p:titleStyle>
      <a:lvl1pPr marL="0" marR="0" indent="0" algn="ctr" defTabSz="3291278" rtl="0" latinLnBrk="0">
        <a:lnSpc>
          <a:spcPct val="100000"/>
        </a:lnSpc>
        <a:spcBef>
          <a:spcPts val="0"/>
        </a:spcBef>
        <a:spcAft>
          <a:spcPts val="0"/>
        </a:spcAft>
        <a:buClrTx/>
        <a:buSzTx/>
        <a:buFontTx/>
        <a:buNone/>
        <a:tabLst/>
        <a:defRPr b="0" baseline="0" cap="none" i="0" spc="0" strike="noStrike" sz="6000" u="none">
          <a:solidFill>
            <a:srgbClr val="000000"/>
          </a:solidFill>
          <a:uFillTx/>
          <a:latin typeface="+mn-lt"/>
          <a:ea typeface="+mn-ea"/>
          <a:cs typeface="+mn-cs"/>
          <a:sym typeface="Calibri"/>
        </a:defRPr>
      </a:lvl1pPr>
      <a:lvl2pPr marL="0" marR="0" indent="0" algn="ctr" defTabSz="3291278" rtl="0" latinLnBrk="0">
        <a:lnSpc>
          <a:spcPct val="100000"/>
        </a:lnSpc>
        <a:spcBef>
          <a:spcPts val="0"/>
        </a:spcBef>
        <a:spcAft>
          <a:spcPts val="0"/>
        </a:spcAft>
        <a:buClrTx/>
        <a:buSzTx/>
        <a:buFontTx/>
        <a:buNone/>
        <a:tabLst/>
        <a:defRPr b="0" baseline="0" cap="none" i="0" spc="0" strike="noStrike" sz="6000" u="none">
          <a:solidFill>
            <a:srgbClr val="000000"/>
          </a:solidFill>
          <a:uFillTx/>
          <a:latin typeface="+mn-lt"/>
          <a:ea typeface="+mn-ea"/>
          <a:cs typeface="+mn-cs"/>
          <a:sym typeface="Calibri"/>
        </a:defRPr>
      </a:lvl2pPr>
      <a:lvl3pPr marL="0" marR="0" indent="0" algn="ctr" defTabSz="3291278" rtl="0" latinLnBrk="0">
        <a:lnSpc>
          <a:spcPct val="100000"/>
        </a:lnSpc>
        <a:spcBef>
          <a:spcPts val="0"/>
        </a:spcBef>
        <a:spcAft>
          <a:spcPts val="0"/>
        </a:spcAft>
        <a:buClrTx/>
        <a:buSzTx/>
        <a:buFontTx/>
        <a:buNone/>
        <a:tabLst/>
        <a:defRPr b="0" baseline="0" cap="none" i="0" spc="0" strike="noStrike" sz="6000" u="none">
          <a:solidFill>
            <a:srgbClr val="000000"/>
          </a:solidFill>
          <a:uFillTx/>
          <a:latin typeface="+mn-lt"/>
          <a:ea typeface="+mn-ea"/>
          <a:cs typeface="+mn-cs"/>
          <a:sym typeface="Calibri"/>
        </a:defRPr>
      </a:lvl3pPr>
      <a:lvl4pPr marL="0" marR="0" indent="0" algn="ctr" defTabSz="3291278" rtl="0" latinLnBrk="0">
        <a:lnSpc>
          <a:spcPct val="100000"/>
        </a:lnSpc>
        <a:spcBef>
          <a:spcPts val="0"/>
        </a:spcBef>
        <a:spcAft>
          <a:spcPts val="0"/>
        </a:spcAft>
        <a:buClrTx/>
        <a:buSzTx/>
        <a:buFontTx/>
        <a:buNone/>
        <a:tabLst/>
        <a:defRPr b="0" baseline="0" cap="none" i="0" spc="0" strike="noStrike" sz="6000" u="none">
          <a:solidFill>
            <a:srgbClr val="000000"/>
          </a:solidFill>
          <a:uFillTx/>
          <a:latin typeface="+mn-lt"/>
          <a:ea typeface="+mn-ea"/>
          <a:cs typeface="+mn-cs"/>
          <a:sym typeface="Calibri"/>
        </a:defRPr>
      </a:lvl4pPr>
      <a:lvl5pPr marL="0" marR="0" indent="0" algn="ctr" defTabSz="3291278" rtl="0" latinLnBrk="0">
        <a:lnSpc>
          <a:spcPct val="100000"/>
        </a:lnSpc>
        <a:spcBef>
          <a:spcPts val="0"/>
        </a:spcBef>
        <a:spcAft>
          <a:spcPts val="0"/>
        </a:spcAft>
        <a:buClrTx/>
        <a:buSzTx/>
        <a:buFontTx/>
        <a:buNone/>
        <a:tabLst/>
        <a:defRPr b="0" baseline="0" cap="none" i="0" spc="0" strike="noStrike" sz="6000" u="none">
          <a:solidFill>
            <a:srgbClr val="000000"/>
          </a:solidFill>
          <a:uFillTx/>
          <a:latin typeface="+mn-lt"/>
          <a:ea typeface="+mn-ea"/>
          <a:cs typeface="+mn-cs"/>
          <a:sym typeface="Calibri"/>
        </a:defRPr>
      </a:lvl5pPr>
      <a:lvl6pPr marL="0" marR="0" indent="0" algn="ctr" defTabSz="3291278" rtl="0" latinLnBrk="0">
        <a:lnSpc>
          <a:spcPct val="100000"/>
        </a:lnSpc>
        <a:spcBef>
          <a:spcPts val="0"/>
        </a:spcBef>
        <a:spcAft>
          <a:spcPts val="0"/>
        </a:spcAft>
        <a:buClrTx/>
        <a:buSzTx/>
        <a:buFontTx/>
        <a:buNone/>
        <a:tabLst/>
        <a:defRPr b="0" baseline="0" cap="none" i="0" spc="0" strike="noStrike" sz="6000" u="none">
          <a:solidFill>
            <a:srgbClr val="000000"/>
          </a:solidFill>
          <a:uFillTx/>
          <a:latin typeface="+mn-lt"/>
          <a:ea typeface="+mn-ea"/>
          <a:cs typeface="+mn-cs"/>
          <a:sym typeface="Calibri"/>
        </a:defRPr>
      </a:lvl6pPr>
      <a:lvl7pPr marL="0" marR="0" indent="0" algn="ctr" defTabSz="3291278" rtl="0" latinLnBrk="0">
        <a:lnSpc>
          <a:spcPct val="100000"/>
        </a:lnSpc>
        <a:spcBef>
          <a:spcPts val="0"/>
        </a:spcBef>
        <a:spcAft>
          <a:spcPts val="0"/>
        </a:spcAft>
        <a:buClrTx/>
        <a:buSzTx/>
        <a:buFontTx/>
        <a:buNone/>
        <a:tabLst/>
        <a:defRPr b="0" baseline="0" cap="none" i="0" spc="0" strike="noStrike" sz="6000" u="none">
          <a:solidFill>
            <a:srgbClr val="000000"/>
          </a:solidFill>
          <a:uFillTx/>
          <a:latin typeface="+mn-lt"/>
          <a:ea typeface="+mn-ea"/>
          <a:cs typeface="+mn-cs"/>
          <a:sym typeface="Calibri"/>
        </a:defRPr>
      </a:lvl7pPr>
      <a:lvl8pPr marL="0" marR="0" indent="0" algn="ctr" defTabSz="3291278" rtl="0" latinLnBrk="0">
        <a:lnSpc>
          <a:spcPct val="100000"/>
        </a:lnSpc>
        <a:spcBef>
          <a:spcPts val="0"/>
        </a:spcBef>
        <a:spcAft>
          <a:spcPts val="0"/>
        </a:spcAft>
        <a:buClrTx/>
        <a:buSzTx/>
        <a:buFontTx/>
        <a:buNone/>
        <a:tabLst/>
        <a:defRPr b="0" baseline="0" cap="none" i="0" spc="0" strike="noStrike" sz="6000" u="none">
          <a:solidFill>
            <a:srgbClr val="000000"/>
          </a:solidFill>
          <a:uFillTx/>
          <a:latin typeface="+mn-lt"/>
          <a:ea typeface="+mn-ea"/>
          <a:cs typeface="+mn-cs"/>
          <a:sym typeface="Calibri"/>
        </a:defRPr>
      </a:lvl8pPr>
      <a:lvl9pPr marL="0" marR="0" indent="0" algn="ctr" defTabSz="3291278" rtl="0" latinLnBrk="0">
        <a:lnSpc>
          <a:spcPct val="100000"/>
        </a:lnSpc>
        <a:spcBef>
          <a:spcPts val="0"/>
        </a:spcBef>
        <a:spcAft>
          <a:spcPts val="0"/>
        </a:spcAft>
        <a:buClrTx/>
        <a:buSzTx/>
        <a:buFontTx/>
        <a:buNone/>
        <a:tabLst/>
        <a:defRPr b="0" baseline="0" cap="none" i="0" spc="0" strike="noStrike" sz="6000" u="none">
          <a:solidFill>
            <a:srgbClr val="000000"/>
          </a:solidFill>
          <a:uFillTx/>
          <a:latin typeface="+mn-lt"/>
          <a:ea typeface="+mn-ea"/>
          <a:cs typeface="+mn-cs"/>
          <a:sym typeface="Calibri"/>
        </a:defRPr>
      </a:lvl9pPr>
    </p:titleStyle>
    <p:bodyStyle>
      <a:lvl1pPr marL="342842" marR="0" indent="-342842" algn="l" defTabSz="3291278" rtl="0" latinLnBrk="0">
        <a:lnSpc>
          <a:spcPct val="100000"/>
        </a:lnSpc>
        <a:spcBef>
          <a:spcPts val="600"/>
        </a:spcBef>
        <a:spcAft>
          <a:spcPts val="0"/>
        </a:spcAft>
        <a:buClrTx/>
        <a:buSzPct val="100000"/>
        <a:buFont typeface="Arial"/>
        <a:buChar char="•"/>
        <a:tabLst/>
        <a:defRPr b="0" baseline="0" cap="none" i="0" spc="0" strike="noStrike" sz="2700" u="none">
          <a:solidFill>
            <a:srgbClr val="000000"/>
          </a:solidFill>
          <a:uFillTx/>
          <a:latin typeface="+mn-lt"/>
          <a:ea typeface="+mn-ea"/>
          <a:cs typeface="+mn-cs"/>
          <a:sym typeface="Calibri"/>
        </a:defRPr>
      </a:lvl1pPr>
      <a:lvl2pPr marL="685683" marR="0" indent="-342842" algn="l" defTabSz="3291278" rtl="0" latinLnBrk="0">
        <a:lnSpc>
          <a:spcPct val="100000"/>
        </a:lnSpc>
        <a:spcBef>
          <a:spcPts val="600"/>
        </a:spcBef>
        <a:spcAft>
          <a:spcPts val="0"/>
        </a:spcAft>
        <a:buClrTx/>
        <a:buSzPct val="100000"/>
        <a:buFont typeface="Arial"/>
        <a:buChar char="–"/>
        <a:tabLst/>
        <a:defRPr b="0" baseline="0" cap="none" i="0" spc="0" strike="noStrike" sz="2700" u="none">
          <a:solidFill>
            <a:srgbClr val="000000"/>
          </a:solidFill>
          <a:uFillTx/>
          <a:latin typeface="+mn-lt"/>
          <a:ea typeface="+mn-ea"/>
          <a:cs typeface="+mn-cs"/>
          <a:sym typeface="Calibri"/>
        </a:defRPr>
      </a:lvl2pPr>
      <a:lvl3pPr marL="1028525" marR="0" indent="-342842" algn="l" defTabSz="3291278" rtl="0" latinLnBrk="0">
        <a:lnSpc>
          <a:spcPct val="100000"/>
        </a:lnSpc>
        <a:spcBef>
          <a:spcPts val="600"/>
        </a:spcBef>
        <a:spcAft>
          <a:spcPts val="0"/>
        </a:spcAft>
        <a:buClrTx/>
        <a:buSzPct val="100000"/>
        <a:buFont typeface="Arial"/>
        <a:buChar char="•"/>
        <a:tabLst/>
        <a:defRPr b="0" baseline="0" cap="none" i="0" spc="0" strike="noStrike" sz="2700" u="none">
          <a:solidFill>
            <a:srgbClr val="000000"/>
          </a:solidFill>
          <a:uFillTx/>
          <a:latin typeface="+mn-lt"/>
          <a:ea typeface="+mn-ea"/>
          <a:cs typeface="+mn-cs"/>
          <a:sym typeface="Calibri"/>
        </a:defRPr>
      </a:lvl3pPr>
      <a:lvl4pPr marL="1371366" marR="0" indent="-342841" algn="l" defTabSz="3291278" rtl="0" latinLnBrk="0">
        <a:lnSpc>
          <a:spcPct val="100000"/>
        </a:lnSpc>
        <a:spcBef>
          <a:spcPts val="600"/>
        </a:spcBef>
        <a:spcAft>
          <a:spcPts val="0"/>
        </a:spcAft>
        <a:buClrTx/>
        <a:buSzPct val="100000"/>
        <a:buFont typeface="Arial"/>
        <a:buChar char="–"/>
        <a:tabLst/>
        <a:defRPr b="0" baseline="0" cap="none" i="0" spc="0" strike="noStrike" sz="2700" u="none">
          <a:solidFill>
            <a:srgbClr val="000000"/>
          </a:solidFill>
          <a:uFillTx/>
          <a:latin typeface="+mn-lt"/>
          <a:ea typeface="+mn-ea"/>
          <a:cs typeface="+mn-cs"/>
          <a:sym typeface="Calibri"/>
        </a:defRPr>
      </a:lvl4pPr>
      <a:lvl5pPr marL="1714208" marR="0" indent="-342842" algn="l" defTabSz="3291278" rtl="0" latinLnBrk="0">
        <a:lnSpc>
          <a:spcPct val="100000"/>
        </a:lnSpc>
        <a:spcBef>
          <a:spcPts val="600"/>
        </a:spcBef>
        <a:spcAft>
          <a:spcPts val="0"/>
        </a:spcAft>
        <a:buClrTx/>
        <a:buSzPct val="100000"/>
        <a:buFont typeface="Arial"/>
        <a:buChar char="»"/>
        <a:tabLst/>
        <a:defRPr b="0" baseline="0" cap="none" i="0" spc="0" strike="noStrike" sz="2700" u="none">
          <a:solidFill>
            <a:srgbClr val="000000"/>
          </a:solidFill>
          <a:uFillTx/>
          <a:latin typeface="+mn-lt"/>
          <a:ea typeface="+mn-ea"/>
          <a:cs typeface="+mn-cs"/>
          <a:sym typeface="Calibri"/>
        </a:defRPr>
      </a:lvl5pPr>
      <a:lvl6pPr marL="8536755" marR="0" indent="-308557" algn="l" defTabSz="3291278" rtl="0" latinLnBrk="0">
        <a:lnSpc>
          <a:spcPct val="100000"/>
        </a:lnSpc>
        <a:spcBef>
          <a:spcPts val="600"/>
        </a:spcBef>
        <a:spcAft>
          <a:spcPts val="0"/>
        </a:spcAft>
        <a:buClrTx/>
        <a:buSzPct val="100000"/>
        <a:buFont typeface="Arial"/>
        <a:buChar char="•"/>
        <a:tabLst/>
        <a:defRPr b="0" baseline="0" cap="none" i="0" spc="0" strike="noStrike" sz="2700" u="none">
          <a:solidFill>
            <a:srgbClr val="000000"/>
          </a:solidFill>
          <a:uFillTx/>
          <a:latin typeface="+mn-lt"/>
          <a:ea typeface="+mn-ea"/>
          <a:cs typeface="+mn-cs"/>
          <a:sym typeface="Calibri"/>
        </a:defRPr>
      </a:lvl6pPr>
      <a:lvl7pPr marL="10182395" marR="0" indent="-308557" algn="l" defTabSz="3291278" rtl="0" latinLnBrk="0">
        <a:lnSpc>
          <a:spcPct val="100000"/>
        </a:lnSpc>
        <a:spcBef>
          <a:spcPts val="600"/>
        </a:spcBef>
        <a:spcAft>
          <a:spcPts val="0"/>
        </a:spcAft>
        <a:buClrTx/>
        <a:buSzPct val="100000"/>
        <a:buFont typeface="Arial"/>
        <a:buChar char="•"/>
        <a:tabLst/>
        <a:defRPr b="0" baseline="0" cap="none" i="0" spc="0" strike="noStrike" sz="2700" u="none">
          <a:solidFill>
            <a:srgbClr val="000000"/>
          </a:solidFill>
          <a:uFillTx/>
          <a:latin typeface="+mn-lt"/>
          <a:ea typeface="+mn-ea"/>
          <a:cs typeface="+mn-cs"/>
          <a:sym typeface="Calibri"/>
        </a:defRPr>
      </a:lvl7pPr>
      <a:lvl8pPr marL="11828034" marR="0" indent="-308557" algn="l" defTabSz="3291278" rtl="0" latinLnBrk="0">
        <a:lnSpc>
          <a:spcPct val="100000"/>
        </a:lnSpc>
        <a:spcBef>
          <a:spcPts val="600"/>
        </a:spcBef>
        <a:spcAft>
          <a:spcPts val="0"/>
        </a:spcAft>
        <a:buClrTx/>
        <a:buSzPct val="100000"/>
        <a:buFont typeface="Arial"/>
        <a:buChar char="•"/>
        <a:tabLst/>
        <a:defRPr b="0" baseline="0" cap="none" i="0" spc="0" strike="noStrike" sz="2700" u="none">
          <a:solidFill>
            <a:srgbClr val="000000"/>
          </a:solidFill>
          <a:uFillTx/>
          <a:latin typeface="+mn-lt"/>
          <a:ea typeface="+mn-ea"/>
          <a:cs typeface="+mn-cs"/>
          <a:sym typeface="Calibri"/>
        </a:defRPr>
      </a:lvl8pPr>
      <a:lvl9pPr marL="13473673" marR="0" indent="-308557" algn="l" defTabSz="3291278" rtl="0" latinLnBrk="0">
        <a:lnSpc>
          <a:spcPct val="100000"/>
        </a:lnSpc>
        <a:spcBef>
          <a:spcPts val="600"/>
        </a:spcBef>
        <a:spcAft>
          <a:spcPts val="0"/>
        </a:spcAft>
        <a:buClrTx/>
        <a:buSzPct val="100000"/>
        <a:buFont typeface="Arial"/>
        <a:buChar char="•"/>
        <a:tabLst/>
        <a:defRPr b="0" baseline="0" cap="none" i="0" spc="0" strike="noStrike" sz="2700" u="none">
          <a:solidFill>
            <a:srgbClr val="000000"/>
          </a:solidFill>
          <a:uFillTx/>
          <a:latin typeface="+mn-lt"/>
          <a:ea typeface="+mn-ea"/>
          <a:cs typeface="+mn-cs"/>
          <a:sym typeface="Calibri"/>
        </a:defRPr>
      </a:lvl9pPr>
    </p:bodyStyle>
    <p:otherStyle>
      <a:lvl1pPr marL="0" marR="0" indent="0" algn="r" defTabSz="3291278" rtl="0" latinLnBrk="0">
        <a:lnSpc>
          <a:spcPct val="100000"/>
        </a:lnSpc>
        <a:spcBef>
          <a:spcPts val="0"/>
        </a:spcBef>
        <a:spcAft>
          <a:spcPts val="0"/>
        </a:spcAft>
        <a:buClrTx/>
        <a:buSzTx/>
        <a:buFontTx/>
        <a:buNone/>
        <a:tabLst/>
        <a:defRPr b="0" baseline="0" cap="none" i="0" spc="0" strike="noStrike" sz="4400" u="none">
          <a:solidFill>
            <a:schemeClr val="tx1"/>
          </a:solidFill>
          <a:uFillTx/>
          <a:latin typeface="+mn-lt"/>
          <a:ea typeface="+mn-ea"/>
          <a:cs typeface="+mn-cs"/>
          <a:sym typeface="Calibri"/>
        </a:defRPr>
      </a:lvl1pPr>
      <a:lvl2pPr marL="0" marR="0" indent="1645640" algn="r" defTabSz="3291278" rtl="0" latinLnBrk="0">
        <a:lnSpc>
          <a:spcPct val="100000"/>
        </a:lnSpc>
        <a:spcBef>
          <a:spcPts val="0"/>
        </a:spcBef>
        <a:spcAft>
          <a:spcPts val="0"/>
        </a:spcAft>
        <a:buClrTx/>
        <a:buSzTx/>
        <a:buFontTx/>
        <a:buNone/>
        <a:tabLst/>
        <a:defRPr b="0" baseline="0" cap="none" i="0" spc="0" strike="noStrike" sz="4400" u="none">
          <a:solidFill>
            <a:schemeClr val="tx1"/>
          </a:solidFill>
          <a:uFillTx/>
          <a:latin typeface="+mn-lt"/>
          <a:ea typeface="+mn-ea"/>
          <a:cs typeface="+mn-cs"/>
          <a:sym typeface="Calibri"/>
        </a:defRPr>
      </a:lvl2pPr>
      <a:lvl3pPr marL="0" marR="0" indent="3291278" algn="r" defTabSz="3291278" rtl="0" latinLnBrk="0">
        <a:lnSpc>
          <a:spcPct val="100000"/>
        </a:lnSpc>
        <a:spcBef>
          <a:spcPts val="0"/>
        </a:spcBef>
        <a:spcAft>
          <a:spcPts val="0"/>
        </a:spcAft>
        <a:buClrTx/>
        <a:buSzTx/>
        <a:buFontTx/>
        <a:buNone/>
        <a:tabLst/>
        <a:defRPr b="0" baseline="0" cap="none" i="0" spc="0" strike="noStrike" sz="4400" u="none">
          <a:solidFill>
            <a:schemeClr val="tx1"/>
          </a:solidFill>
          <a:uFillTx/>
          <a:latin typeface="+mn-lt"/>
          <a:ea typeface="+mn-ea"/>
          <a:cs typeface="+mn-cs"/>
          <a:sym typeface="Calibri"/>
        </a:defRPr>
      </a:lvl3pPr>
      <a:lvl4pPr marL="0" marR="0" indent="4936918" algn="r" defTabSz="3291278" rtl="0" latinLnBrk="0">
        <a:lnSpc>
          <a:spcPct val="100000"/>
        </a:lnSpc>
        <a:spcBef>
          <a:spcPts val="0"/>
        </a:spcBef>
        <a:spcAft>
          <a:spcPts val="0"/>
        </a:spcAft>
        <a:buClrTx/>
        <a:buSzTx/>
        <a:buFontTx/>
        <a:buNone/>
        <a:tabLst/>
        <a:defRPr b="0" baseline="0" cap="none" i="0" spc="0" strike="noStrike" sz="4400" u="none">
          <a:solidFill>
            <a:schemeClr val="tx1"/>
          </a:solidFill>
          <a:uFillTx/>
          <a:latin typeface="+mn-lt"/>
          <a:ea typeface="+mn-ea"/>
          <a:cs typeface="+mn-cs"/>
          <a:sym typeface="Calibri"/>
        </a:defRPr>
      </a:lvl4pPr>
      <a:lvl5pPr marL="0" marR="0" indent="6582558" algn="r" defTabSz="3291278" rtl="0" latinLnBrk="0">
        <a:lnSpc>
          <a:spcPct val="100000"/>
        </a:lnSpc>
        <a:spcBef>
          <a:spcPts val="0"/>
        </a:spcBef>
        <a:spcAft>
          <a:spcPts val="0"/>
        </a:spcAft>
        <a:buClrTx/>
        <a:buSzTx/>
        <a:buFontTx/>
        <a:buNone/>
        <a:tabLst/>
        <a:defRPr b="0" baseline="0" cap="none" i="0" spc="0" strike="noStrike" sz="4400" u="none">
          <a:solidFill>
            <a:schemeClr val="tx1"/>
          </a:solidFill>
          <a:uFillTx/>
          <a:latin typeface="+mn-lt"/>
          <a:ea typeface="+mn-ea"/>
          <a:cs typeface="+mn-cs"/>
          <a:sym typeface="Calibri"/>
        </a:defRPr>
      </a:lvl5pPr>
      <a:lvl6pPr marL="0" marR="0" indent="8228197" algn="r" defTabSz="3291278" rtl="0" latinLnBrk="0">
        <a:lnSpc>
          <a:spcPct val="100000"/>
        </a:lnSpc>
        <a:spcBef>
          <a:spcPts val="0"/>
        </a:spcBef>
        <a:spcAft>
          <a:spcPts val="0"/>
        </a:spcAft>
        <a:buClrTx/>
        <a:buSzTx/>
        <a:buFontTx/>
        <a:buNone/>
        <a:tabLst/>
        <a:defRPr b="0" baseline="0" cap="none" i="0" spc="0" strike="noStrike" sz="4400" u="none">
          <a:solidFill>
            <a:schemeClr val="tx1"/>
          </a:solidFill>
          <a:uFillTx/>
          <a:latin typeface="+mn-lt"/>
          <a:ea typeface="+mn-ea"/>
          <a:cs typeface="+mn-cs"/>
          <a:sym typeface="Calibri"/>
        </a:defRPr>
      </a:lvl6pPr>
      <a:lvl7pPr marL="0" marR="0" indent="9873836" algn="r" defTabSz="3291278" rtl="0" latinLnBrk="0">
        <a:lnSpc>
          <a:spcPct val="100000"/>
        </a:lnSpc>
        <a:spcBef>
          <a:spcPts val="0"/>
        </a:spcBef>
        <a:spcAft>
          <a:spcPts val="0"/>
        </a:spcAft>
        <a:buClrTx/>
        <a:buSzTx/>
        <a:buFontTx/>
        <a:buNone/>
        <a:tabLst/>
        <a:defRPr b="0" baseline="0" cap="none" i="0" spc="0" strike="noStrike" sz="4400" u="none">
          <a:solidFill>
            <a:schemeClr val="tx1"/>
          </a:solidFill>
          <a:uFillTx/>
          <a:latin typeface="+mn-lt"/>
          <a:ea typeface="+mn-ea"/>
          <a:cs typeface="+mn-cs"/>
          <a:sym typeface="Calibri"/>
        </a:defRPr>
      </a:lvl7pPr>
      <a:lvl8pPr marL="0" marR="0" indent="11519478" algn="r" defTabSz="3291278" rtl="0" latinLnBrk="0">
        <a:lnSpc>
          <a:spcPct val="100000"/>
        </a:lnSpc>
        <a:spcBef>
          <a:spcPts val="0"/>
        </a:spcBef>
        <a:spcAft>
          <a:spcPts val="0"/>
        </a:spcAft>
        <a:buClrTx/>
        <a:buSzTx/>
        <a:buFontTx/>
        <a:buNone/>
        <a:tabLst/>
        <a:defRPr b="0" baseline="0" cap="none" i="0" spc="0" strike="noStrike" sz="4400" u="none">
          <a:solidFill>
            <a:schemeClr val="tx1"/>
          </a:solidFill>
          <a:uFillTx/>
          <a:latin typeface="+mn-lt"/>
          <a:ea typeface="+mn-ea"/>
          <a:cs typeface="+mn-cs"/>
          <a:sym typeface="Calibri"/>
        </a:defRPr>
      </a:lvl8pPr>
      <a:lvl9pPr marL="0" marR="0" indent="13165117" algn="r" defTabSz="3291278" rtl="0" latinLnBrk="0">
        <a:lnSpc>
          <a:spcPct val="100000"/>
        </a:lnSpc>
        <a:spcBef>
          <a:spcPts val="0"/>
        </a:spcBef>
        <a:spcAft>
          <a:spcPts val="0"/>
        </a:spcAft>
        <a:buClrTx/>
        <a:buSzTx/>
        <a:buFontTx/>
        <a:buNone/>
        <a:tabLst/>
        <a:defRPr b="0" baseline="0" cap="none" i="0" spc="0" strike="noStrike" sz="44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eeshwar-portfolio.vercel.app/" TargetMode="External"/><Relationship Id="rId3" Type="http://schemas.openxmlformats.org/officeDocument/2006/relationships/hyperlink" Target="https://www.sciencedirect.com/science/article/pii/S0920410521007257" TargetMode="External"/><Relationship Id="rId4" Type="http://schemas.openxmlformats.org/officeDocument/2006/relationships/hyperlink" Target="https://www.sciencedirect.com/science/article/pii/S1568494617306439" TargetMode="External"/><Relationship Id="rId5" Type="http://schemas.openxmlformats.org/officeDocument/2006/relationships/hyperlink" Target="https://www.sciencedirect.com/science/article/pii/S1568494617300649" TargetMode="External"/><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 name="Text Box 122"/>
          <p:cNvSpPr txBox="1"/>
          <p:nvPr/>
        </p:nvSpPr>
        <p:spPr>
          <a:xfrm>
            <a:off x="11018497" y="-1"/>
            <a:ext cx="21854206" cy="2651762"/>
          </a:xfrm>
          <a:prstGeom prst="rect">
            <a:avLst/>
          </a:prstGeom>
          <a:ln w="12700">
            <a:miter lim="400000"/>
          </a:ln>
          <a:extLst>
            <a:ext uri="{C572A759-6A51-4108-AA02-DFA0A04FC94B}">
              <ma14:wrappingTextBoxFlag xmlns:ma14="http://schemas.microsoft.com/office/mac/drawingml/2011/main" val="1"/>
            </a:ext>
          </a:extLst>
        </p:spPr>
        <p:txBody>
          <a:bodyPr tIns="91439" bIns="91439" anchor="ctr">
            <a:normAutofit fontScale="100000" lnSpcReduction="0"/>
          </a:bodyPr>
          <a:lstStyle>
            <a:lvl1pPr algn="ctr" defTabSz="4389437">
              <a:defRPr sz="7200">
                <a:solidFill>
                  <a:srgbClr val="EBF1DE"/>
                </a:solidFill>
                <a:latin typeface="Arial"/>
                <a:ea typeface="Arial"/>
                <a:cs typeface="Arial"/>
                <a:sym typeface="Arial"/>
              </a:defRPr>
            </a:lvl1pPr>
          </a:lstStyle>
          <a:p>
            <a:pPr/>
            <a:r>
              <a:t>Hybrid Time Series Forecasting with ARIMA, Echo State Networks, and LSTM</a:t>
            </a:r>
          </a:p>
        </p:txBody>
      </p:sp>
      <p:sp>
        <p:nvSpPr>
          <p:cNvPr id="52" name="Text Box 123"/>
          <p:cNvSpPr txBox="1"/>
          <p:nvPr/>
        </p:nvSpPr>
        <p:spPr>
          <a:xfrm>
            <a:off x="11018497" y="2377439"/>
            <a:ext cx="21854206" cy="1714501"/>
          </a:xfrm>
          <a:prstGeom prst="rect">
            <a:avLst/>
          </a:prstGeom>
          <a:ln w="12700">
            <a:miter lim="400000"/>
          </a:ln>
          <a:extLst>
            <a:ext uri="{C572A759-6A51-4108-AA02-DFA0A04FC94B}">
              <ma14:wrappingTextBoxFlag xmlns:ma14="http://schemas.microsoft.com/office/mac/drawingml/2011/main" val="1"/>
            </a:ext>
          </a:extLst>
        </p:spPr>
        <p:txBody>
          <a:bodyPr tIns="91439" bIns="91439" anchor="ctr">
            <a:normAutofit fontScale="100000" lnSpcReduction="0"/>
          </a:bodyPr>
          <a:lstStyle/>
          <a:p>
            <a:pPr algn="ctr" defTabSz="4389437">
              <a:defRPr baseline="30000" sz="4000">
                <a:solidFill>
                  <a:srgbClr val="EBF1DE"/>
                </a:solidFill>
              </a:defRPr>
            </a:pPr>
            <a:r>
              <a:t>Sai Eeshwar D</a:t>
            </a:r>
            <a:endParaRPr baseline="28363" sz="2200">
              <a:latin typeface="Arial"/>
              <a:ea typeface="Arial"/>
              <a:cs typeface="Arial"/>
              <a:sym typeface="Arial"/>
            </a:endParaRPr>
          </a:p>
          <a:p>
            <a:pPr algn="ctr" defTabSz="4389437">
              <a:defRPr sz="4000">
                <a:solidFill>
                  <a:srgbClr val="EBF1DE"/>
                </a:solidFill>
              </a:defRPr>
            </a:pPr>
            <a:r>
              <a:t>VIT – AP, Amaravati</a:t>
            </a:r>
          </a:p>
        </p:txBody>
      </p:sp>
      <p:sp>
        <p:nvSpPr>
          <p:cNvPr id="53" name="TextBox 23"/>
          <p:cNvSpPr txBox="1"/>
          <p:nvPr/>
        </p:nvSpPr>
        <p:spPr>
          <a:xfrm>
            <a:off x="1463038" y="30038039"/>
            <a:ext cx="9144001" cy="2223675"/>
          </a:xfrm>
          <a:prstGeom prst="rect">
            <a:avLst/>
          </a:prstGeom>
          <a:ln w="12700">
            <a:miter lim="400000"/>
          </a:ln>
          <a:extLst>
            <a:ext uri="{C572A759-6A51-4108-AA02-DFA0A04FC94B}">
              <ma14:wrappingTextBoxFlag xmlns:ma14="http://schemas.microsoft.com/office/mac/drawingml/2011/main" val="1"/>
            </a:ext>
          </a:extLst>
        </p:spPr>
        <p:txBody>
          <a:bodyPr tIns="91439" bIns="91439">
            <a:normAutofit fontScale="100000" lnSpcReduction="0"/>
          </a:bodyPr>
          <a:lstStyle/>
          <a:p>
            <a:pPr algn="ctr">
              <a:lnSpc>
                <a:spcPct val="90000"/>
              </a:lnSpc>
              <a:defRPr sz="2800"/>
            </a:pPr>
            <a:r>
              <a:t>Sai Eeshwar D</a:t>
            </a:r>
          </a:p>
          <a:p>
            <a:pPr algn="ctr">
              <a:lnSpc>
                <a:spcPct val="90000"/>
              </a:lnSpc>
              <a:defRPr sz="2800"/>
            </a:pPr>
            <a:r>
              <a:t>VIT-AP</a:t>
            </a:r>
          </a:p>
          <a:p>
            <a:pPr algn="ctr">
              <a:lnSpc>
                <a:spcPct val="90000"/>
              </a:lnSpc>
              <a:defRPr sz="2800"/>
            </a:pPr>
            <a:r>
              <a:t>Email: saieeshwar03@gmail.com</a:t>
            </a:r>
          </a:p>
          <a:p>
            <a:pPr algn="ctr">
              <a:lnSpc>
                <a:spcPct val="90000"/>
              </a:lnSpc>
              <a:defRPr sz="2800"/>
            </a:pPr>
            <a:r>
              <a:t>Website: </a:t>
            </a:r>
            <a:r>
              <a:rPr u="sng">
                <a:solidFill>
                  <a:srgbClr val="0000FF"/>
                </a:solidFill>
                <a:uFill>
                  <a:solidFill>
                    <a:srgbClr val="0000FF"/>
                  </a:solidFill>
                </a:uFill>
                <a:hlinkClick r:id="rId2" invalidUrl="" action="" tgtFrame="" tooltip="" history="1" highlightClick="0" endSnd="0"/>
              </a:rPr>
              <a:t>https://eeshwar-portfolio.vercel.app/</a:t>
            </a:r>
          </a:p>
          <a:p>
            <a:pPr algn="ctr">
              <a:lnSpc>
                <a:spcPct val="90000"/>
              </a:lnSpc>
              <a:defRPr sz="2800"/>
            </a:pPr>
            <a:r>
              <a:t>Phone: +91 7338223233</a:t>
            </a:r>
          </a:p>
        </p:txBody>
      </p:sp>
      <p:sp>
        <p:nvSpPr>
          <p:cNvPr id="54" name="TextBox 24"/>
          <p:cNvSpPr txBox="1"/>
          <p:nvPr/>
        </p:nvSpPr>
        <p:spPr>
          <a:xfrm>
            <a:off x="3655113" y="29146503"/>
            <a:ext cx="4759854" cy="631040"/>
          </a:xfrm>
          <a:prstGeom prst="rect">
            <a:avLst/>
          </a:prstGeom>
          <a:ln w="12700">
            <a:miter lim="400000"/>
          </a:ln>
          <a:extLst>
            <a:ext uri="{C572A759-6A51-4108-AA02-DFA0A04FC94B}">
              <ma14:wrappingTextBoxFlag xmlns:ma14="http://schemas.microsoft.com/office/mac/drawingml/2011/main" val="1"/>
            </a:ext>
          </a:extLst>
        </p:spPr>
        <p:txBody>
          <a:bodyPr wrap="none" lIns="34283" tIns="34283" rIns="34283" bIns="34283">
            <a:spAutoFit/>
          </a:bodyPr>
          <a:lstStyle>
            <a:lvl1pPr algn="ctr">
              <a:defRPr b="1" sz="4400"/>
            </a:lvl1pPr>
          </a:lstStyle>
          <a:p>
            <a:pPr/>
            <a:r>
              <a:t>Contact Information</a:t>
            </a:r>
          </a:p>
        </p:txBody>
      </p:sp>
      <p:sp>
        <p:nvSpPr>
          <p:cNvPr id="55" name="TextBox 25"/>
          <p:cNvSpPr txBox="1"/>
          <p:nvPr/>
        </p:nvSpPr>
        <p:spPr>
          <a:xfrm>
            <a:off x="11338560" y="30038039"/>
            <a:ext cx="19003666" cy="2359337"/>
          </a:xfrm>
          <a:prstGeom prst="rect">
            <a:avLst/>
          </a:prstGeom>
          <a:ln w="12700">
            <a:miter lim="400000"/>
          </a:ln>
          <a:extLst>
            <a:ext uri="{C572A759-6A51-4108-AA02-DFA0A04FC94B}">
              <ma14:wrappingTextBoxFlag xmlns:ma14="http://schemas.microsoft.com/office/mac/drawingml/2011/main" val="1"/>
            </a:ext>
          </a:extLst>
        </p:spPr>
        <p:txBody>
          <a:bodyPr tIns="91439" bIns="91439">
            <a:normAutofit fontScale="100000" lnSpcReduction="0"/>
          </a:bodyPr>
          <a:lstStyle/>
          <a:p>
            <a:pPr marL="342265" indent="-342265">
              <a:lnSpc>
                <a:spcPct val="80000"/>
              </a:lnSpc>
              <a:buSzPct val="100000"/>
              <a:buAutoNum type="arabicPeriod" startAt="1"/>
              <a:defRPr sz="1400"/>
            </a:pPr>
            <a:r>
              <a:t> D. Li, M. Han, and J. Wang, “Chaotic time series prediction based on a novel robust echo state network,” </a:t>
            </a:r>
            <a:r>
              <a:rPr i="1"/>
              <a:t>IEEE Trans. Neural Networks and Learning Systems</a:t>
            </a:r>
            <a:r>
              <a:t>, vol. 23, no. 5, pp. 787–799, 2012.</a:t>
            </a:r>
            <a:endParaRPr sz="5900"/>
          </a:p>
          <a:p>
            <a:pPr marL="342265" indent="-342265">
              <a:lnSpc>
                <a:spcPct val="80000"/>
              </a:lnSpc>
              <a:buSzPct val="100000"/>
              <a:buAutoNum type="arabicPeriod" startAt="1"/>
              <a:defRPr sz="1400"/>
            </a:pPr>
            <a:r>
              <a:t> M. Han and M. Xu, “Laplacian echo state network for multivariate time series prediction,” </a:t>
            </a:r>
            <a:r>
              <a:rPr i="1"/>
              <a:t>IEEE Trans. Neural Networks and Learning Systems</a:t>
            </a:r>
            <a:r>
              <a:t>, vol. 29, no. 1, pp. 238–244, 2018.</a:t>
            </a:r>
            <a:endParaRPr sz="5900"/>
          </a:p>
          <a:p>
            <a:pPr marL="342265" indent="-342265">
              <a:lnSpc>
                <a:spcPct val="80000"/>
              </a:lnSpc>
              <a:buSzPct val="100000"/>
              <a:buAutoNum type="arabicPeriod" startAt="1"/>
              <a:defRPr sz="1400"/>
            </a:pPr>
            <a:r>
              <a:t> Y. Pan, L. Deng, P. Zhou, and W. J. Lee, “Laplacian echo-state networks for production analysis and forecasting in unconventional reservoirs,” </a:t>
            </a:r>
            <a:r>
              <a:rPr i="1"/>
              <a:t>J. Pet. Sci. Eng.</a:t>
            </a:r>
            <a:r>
              <a:t>, vol. 207, p. 109068, 2021. [Online]. Available: </a:t>
            </a:r>
            <a:r>
              <a:rPr u="sng">
                <a:solidFill>
                  <a:srgbClr val="0000FF"/>
                </a:solidFill>
                <a:uFill>
                  <a:solidFill>
                    <a:srgbClr val="0000FF"/>
                  </a:solidFill>
                </a:uFill>
                <a:hlinkClick r:id="rId3" invalidUrl="" action="" tgtFrame="" tooltip="" history="1" highlightClick="0" endSnd="0"/>
              </a:rPr>
              <a:t>https://www.sciencedirect.com/science/article/pii/S0920410521007257</a:t>
            </a:r>
            <a:endParaRPr sz="5900"/>
          </a:p>
          <a:p>
            <a:pPr marL="342265" indent="-342265">
              <a:lnSpc>
                <a:spcPct val="80000"/>
              </a:lnSpc>
              <a:buSzPct val="100000"/>
              <a:buAutoNum type="arabicPeriod" startAt="1"/>
              <a:defRPr sz="1400"/>
            </a:pPr>
            <a:r>
              <a:t> Y. Lu, Y. Liao, L. Xu, Y. Liu, and Y. Liu, “Laplacian deep echo state network optimized by genetic algorithm,” in </a:t>
            </a:r>
            <a:r>
              <a:rPr i="1"/>
              <a:t>2021 IEEE Int. Conf. on Information Communication and Software Engineering (ICICSE)</a:t>
            </a:r>
            <a:r>
              <a:t>, 2021, pp. 107–111.</a:t>
            </a:r>
            <a:endParaRPr sz="5900"/>
          </a:p>
          <a:p>
            <a:pPr marL="342265" indent="-342265">
              <a:lnSpc>
                <a:spcPct val="80000"/>
              </a:lnSpc>
              <a:buSzPct val="100000"/>
              <a:buAutoNum type="arabicPeriod" startAt="1"/>
              <a:defRPr sz="1400"/>
            </a:pPr>
            <a:r>
              <a:t> L. Shen, J. Chen, Z. Zeng, J. Yang, and J. Jin, “A novel echo state network for multivariate and nonlinear time series prediction,” </a:t>
            </a:r>
            <a:r>
              <a:rPr i="1"/>
              <a:t>Appl. Soft Comput.</a:t>
            </a:r>
            <a:r>
              <a:t>, vol. 62, pp. 524–535, 2018. [Online]. Available: </a:t>
            </a:r>
            <a:r>
              <a:rPr u="sng">
                <a:solidFill>
                  <a:srgbClr val="0000FF"/>
                </a:solidFill>
                <a:uFill>
                  <a:solidFill>
                    <a:srgbClr val="0000FF"/>
                  </a:solidFill>
                </a:uFill>
                <a:hlinkClick r:id="rId4" invalidUrl="" action="" tgtFrame="" tooltip="" history="1" highlightClick="0" endSnd="0"/>
              </a:rPr>
              <a:t>https://www.sciencedirect.com/science/article/pii/S1568494617306439</a:t>
            </a:r>
            <a:endParaRPr sz="5900"/>
          </a:p>
          <a:p>
            <a:pPr marL="342265" indent="-342265">
              <a:lnSpc>
                <a:spcPct val="80000"/>
              </a:lnSpc>
              <a:buSzPct val="100000"/>
              <a:buAutoNum type="arabicPeriod" startAt="1"/>
              <a:defRPr sz="1400"/>
            </a:pPr>
            <a:r>
              <a:t> Y. Sui and H. Gao, “Modified echo state network for prediction of nonlinear chaotic time series,” </a:t>
            </a:r>
            <a:r>
              <a:rPr i="1"/>
              <a:t>Nonlinear Dyn.</a:t>
            </a:r>
            <a:r>
              <a:t>, vol. 110, no. 4, pp. 3581–3603, Dec. 2022.</a:t>
            </a:r>
            <a:endParaRPr sz="5900"/>
          </a:p>
          <a:p>
            <a:pPr marL="342265" indent="-342265">
              <a:lnSpc>
                <a:spcPct val="80000"/>
              </a:lnSpc>
              <a:buSzPct val="100000"/>
              <a:buAutoNum type="arabicPeriod" startAt="1"/>
              <a:defRPr sz="1400"/>
            </a:pPr>
            <a:r>
              <a:t> T. Kim and B. R. King, “Time series prediction using deep echo state networks,” </a:t>
            </a:r>
            <a:r>
              <a:rPr i="1"/>
              <a:t>Neural Comput. Appl.</a:t>
            </a:r>
            <a:r>
              <a:t>, vol. 32, no. 23, pp. 17769–17787, Dec. 2020.</a:t>
            </a:r>
            <a:endParaRPr sz="5900"/>
          </a:p>
          <a:p>
            <a:pPr marL="342265" indent="-342265">
              <a:lnSpc>
                <a:spcPct val="80000"/>
              </a:lnSpc>
              <a:buSzPct val="100000"/>
              <a:buAutoNum type="arabicPeriod" startAt="1"/>
              <a:defRPr sz="1400"/>
            </a:pPr>
            <a:r>
              <a:t> N. Chouikhi, B. Ammar, N. Rokbani, and A. M. Alimi, “PSO-based analysis of echo state network parameters for time series forecasting,” </a:t>
            </a:r>
            <a:r>
              <a:rPr i="1"/>
              <a:t>Appl. Soft Comput.</a:t>
            </a:r>
            <a:r>
              <a:t>, vol. 55, pp. 211–225, 2017. [Online]. Available: </a:t>
            </a:r>
            <a:r>
              <a:rPr u="sng">
                <a:solidFill>
                  <a:srgbClr val="0000FF"/>
                </a:solidFill>
                <a:uFill>
                  <a:solidFill>
                    <a:srgbClr val="0000FF"/>
                  </a:solidFill>
                </a:uFill>
                <a:hlinkClick r:id="rId5" invalidUrl="" action="" tgtFrame="" tooltip="" history="1" highlightClick="0" endSnd="0"/>
              </a:rPr>
              <a:t>https://www.sciencedirect.com/science/article/pii/S1568494617300649</a:t>
            </a:r>
          </a:p>
        </p:txBody>
      </p:sp>
      <p:sp>
        <p:nvSpPr>
          <p:cNvPr id="56" name="TextBox 26"/>
          <p:cNvSpPr txBox="1"/>
          <p:nvPr/>
        </p:nvSpPr>
        <p:spPr>
          <a:xfrm>
            <a:off x="20633204" y="29173883"/>
            <a:ext cx="2624792" cy="631040"/>
          </a:xfrm>
          <a:prstGeom prst="rect">
            <a:avLst/>
          </a:prstGeom>
          <a:ln w="12700">
            <a:miter lim="400000"/>
          </a:ln>
          <a:extLst>
            <a:ext uri="{C572A759-6A51-4108-AA02-DFA0A04FC94B}">
              <ma14:wrappingTextBoxFlag xmlns:ma14="http://schemas.microsoft.com/office/mac/drawingml/2011/main" val="1"/>
            </a:ext>
          </a:extLst>
        </p:spPr>
        <p:txBody>
          <a:bodyPr wrap="none" lIns="34283" tIns="34283" rIns="34283" bIns="34283" anchor="ctr">
            <a:spAutoFit/>
          </a:bodyPr>
          <a:lstStyle>
            <a:lvl1pPr algn="ctr">
              <a:defRPr b="1" sz="4400"/>
            </a:lvl1pPr>
          </a:lstStyle>
          <a:p>
            <a:pPr/>
            <a:r>
              <a:t>References</a:t>
            </a:r>
          </a:p>
        </p:txBody>
      </p:sp>
      <p:sp>
        <p:nvSpPr>
          <p:cNvPr id="57" name="Text Box 189"/>
          <p:cNvSpPr txBox="1"/>
          <p:nvPr/>
        </p:nvSpPr>
        <p:spPr>
          <a:xfrm>
            <a:off x="1280160" y="5486400"/>
            <a:ext cx="9144001" cy="7441887"/>
          </a:xfrm>
          <a:prstGeom prst="rect">
            <a:avLst/>
          </a:prstGeom>
          <a:solidFill>
            <a:srgbClr val="FFFFFF"/>
          </a:solidFill>
          <a:ln w="12700">
            <a:solidFill>
              <a:srgbClr val="376092"/>
            </a:solidFill>
          </a:ln>
          <a:extLst>
            <a:ext uri="{C572A759-6A51-4108-AA02-DFA0A04FC94B}">
              <ma14:wrappingTextBoxFlag xmlns:ma14="http://schemas.microsoft.com/office/mac/drawingml/2011/main" val="1"/>
            </a:ext>
          </a:extLst>
        </p:spPr>
        <p:txBody>
          <a:bodyPr lIns="137137" tIns="137137" rIns="137137" bIns="137137">
            <a:spAutoFit/>
          </a:bodyPr>
          <a:lstStyle>
            <a:lvl1pPr algn="just">
              <a:defRPr sz="3000"/>
            </a:lvl1pPr>
          </a:lstStyle>
          <a:p>
            <a:pPr/>
            <a:r>
              <a:t>Recently, Echo State Networks (ESNs) have been applied to time series forecasting due to their computational efficiency and effectiveness on chaotic non-stationary time series data. However, their performance can be limited by instability in reservoir dynamics and sensitivity to hyperparameter selection. In this study, a novel hybrid model is proposed by integrating Auto Regressive Integrated Moving Average (ARIMA), ESNs, and Long Short-Term Memory (LSTM) networks, with Discount Mean Square Forecast Error (DMSFE) applied for adaptive weighting. ARIMA is used to model linear dependencies, while ESNs and LSTMs are effective for non-linear patterns. The proposed hybrid model achieves the best evaluation scores, outperforming every individual model.</a:t>
            </a:r>
          </a:p>
        </p:txBody>
      </p:sp>
      <p:grpSp>
        <p:nvGrpSpPr>
          <p:cNvPr id="60" name="Rectangle 31"/>
          <p:cNvGrpSpPr/>
          <p:nvPr/>
        </p:nvGrpSpPr>
        <p:grpSpPr>
          <a:xfrm>
            <a:off x="1280160" y="4800600"/>
            <a:ext cx="9144001" cy="685800"/>
            <a:chOff x="0" y="0"/>
            <a:chExt cx="9144000" cy="685800"/>
          </a:xfrm>
        </p:grpSpPr>
        <p:sp>
          <p:nvSpPr>
            <p:cNvPr id="58" name="Rectangle"/>
            <p:cNvSpPr/>
            <p:nvPr/>
          </p:nvSpPr>
          <p:spPr>
            <a:xfrm>
              <a:off x="0" y="0"/>
              <a:ext cx="9144000" cy="685800"/>
            </a:xfrm>
            <a:prstGeom prst="rect">
              <a:avLst/>
            </a:prstGeom>
            <a:solidFill>
              <a:srgbClr val="376092"/>
            </a:solidFill>
            <a:ln w="12700" cap="flat">
              <a:solidFill>
                <a:srgbClr val="3A5E8A"/>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59" name="Abstract"/>
            <p:cNvSpPr txBox="1"/>
            <p:nvPr/>
          </p:nvSpPr>
          <p:spPr>
            <a:xfrm>
              <a:off x="40633" y="27380"/>
              <a:ext cx="9062734" cy="631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4283" tIns="34283" rIns="34283" bIns="34283" numCol="1" anchor="ctr">
              <a:spAutoFit/>
            </a:bodyPr>
            <a:lstStyle>
              <a:lvl1pPr algn="ctr">
                <a:defRPr b="1" sz="4400">
                  <a:solidFill>
                    <a:srgbClr val="EBF1DE"/>
                  </a:solidFill>
                </a:defRPr>
              </a:lvl1pPr>
            </a:lstStyle>
            <a:p>
              <a:pPr/>
              <a:r>
                <a:t>Abstract</a:t>
              </a:r>
            </a:p>
          </p:txBody>
        </p:sp>
      </p:grpSp>
      <p:grpSp>
        <p:nvGrpSpPr>
          <p:cNvPr id="63" name="Text Box 194"/>
          <p:cNvGrpSpPr/>
          <p:nvPr/>
        </p:nvGrpSpPr>
        <p:grpSpPr>
          <a:xfrm>
            <a:off x="11434006" y="15746987"/>
            <a:ext cx="20848321" cy="5893813"/>
            <a:chOff x="0" y="0"/>
            <a:chExt cx="20848319" cy="5893811"/>
          </a:xfrm>
        </p:grpSpPr>
        <p:sp>
          <p:nvSpPr>
            <p:cNvPr id="61" name="Rectangle"/>
            <p:cNvSpPr/>
            <p:nvPr/>
          </p:nvSpPr>
          <p:spPr>
            <a:xfrm>
              <a:off x="0" y="0"/>
              <a:ext cx="20848320" cy="5893812"/>
            </a:xfrm>
            <a:prstGeom prst="rect">
              <a:avLst/>
            </a:prstGeom>
            <a:solidFill>
              <a:srgbClr val="FFFFFF"/>
            </a:solidFill>
            <a:ln w="12700" cap="flat">
              <a:solidFill>
                <a:srgbClr val="376092"/>
              </a:solidFill>
              <a:prstDash val="solid"/>
              <a:round/>
            </a:ln>
            <a:effectLst/>
          </p:spPr>
          <p:txBody>
            <a:bodyPr wrap="square" lIns="45719" tIns="45719" rIns="45719" bIns="45719" numCol="1" anchor="t">
              <a:noAutofit/>
            </a:bodyPr>
            <a:lstStyle/>
            <a:p>
              <a:pPr>
                <a:defRPr sz="2200">
                  <a:latin typeface="Arial"/>
                  <a:ea typeface="Arial"/>
                  <a:cs typeface="Arial"/>
                  <a:sym typeface="Arial"/>
                </a:defRPr>
              </a:pPr>
            </a:p>
          </p:txBody>
        </p:sp>
        <p:sp>
          <p:nvSpPr>
            <p:cNvPr id="62" name="Gold Price Prediction:…"/>
            <p:cNvSpPr txBox="1"/>
            <p:nvPr/>
          </p:nvSpPr>
          <p:spPr>
            <a:xfrm>
              <a:off x="6350" y="6350"/>
              <a:ext cx="20835620" cy="529017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37137" tIns="137137" rIns="137137" bIns="137137" numCol="1" anchor="t">
              <a:spAutoFit/>
            </a:bodyPr>
            <a:lstStyle/>
            <a:p>
              <a:pPr>
                <a:defRPr b="1" sz="3200">
                  <a:latin typeface="Arial"/>
                  <a:ea typeface="Arial"/>
                  <a:cs typeface="Arial"/>
                  <a:sym typeface="Arial"/>
                </a:defRPr>
              </a:pPr>
              <a:r>
                <a:t>Gold Price Prediction</a:t>
              </a:r>
              <a:r>
                <a:rPr b="0"/>
                <a:t>:</a:t>
              </a:r>
              <a:endParaRPr sz="2200"/>
            </a:p>
            <a:p>
              <a:pPr>
                <a:defRPr sz="3200">
                  <a:latin typeface="Arial"/>
                  <a:ea typeface="Arial"/>
                  <a:cs typeface="Arial"/>
                  <a:sym typeface="Arial"/>
                </a:defRPr>
              </a:pPr>
              <a:r>
                <a:t>The gold price time series (2014–2024, INR) represents chaotic, non-stationary data. Individual models—ARIMA, LSTM, and ESN—capture overall trends but show minor errors at inflection points and near the boundaries of the test set. Overlapping predictions highlight these subtle differences. In contrast, the proposed hybrid model, which integrates ARIMA, ESN, and LSTM using DMSFE for dynamic weighting, significantly improves accuracy. Performance metrics confirm that the hybrid model outperforms each individual method.</a:t>
              </a:r>
              <a:endParaRPr sz="2200"/>
            </a:p>
            <a:p>
              <a:pPr>
                <a:defRPr sz="2200">
                  <a:latin typeface="Arial"/>
                  <a:ea typeface="Arial"/>
                  <a:cs typeface="Arial"/>
                  <a:sym typeface="Arial"/>
                </a:defRPr>
              </a:pPr>
            </a:p>
            <a:p>
              <a:pPr>
                <a:defRPr b="1" sz="3200">
                  <a:latin typeface="Arial"/>
                  <a:ea typeface="Arial"/>
                  <a:cs typeface="Arial"/>
                  <a:sym typeface="Arial"/>
                </a:defRPr>
              </a:pPr>
              <a:r>
                <a:t>Crude Oil Price Prediction</a:t>
              </a:r>
              <a:r>
                <a:rPr b="0"/>
                <a:t>:</a:t>
              </a:r>
              <a:endParaRPr sz="2200"/>
            </a:p>
            <a:p>
              <a:pPr>
                <a:defRPr sz="3200">
                  <a:latin typeface="Arial"/>
                  <a:ea typeface="Arial"/>
                  <a:cs typeface="Arial"/>
                  <a:sym typeface="Arial"/>
                </a:defRPr>
              </a:pPr>
              <a:r>
                <a:t>For Brent crude oil prices (1987–2022, USD), similar experiments reveal that while ARIMA, LSTM, and ESN models perform reasonably well on their own, their predictions differ notably. The hybrid model achieves the best overall performance, as shown by the evaluation metrics, demonstrating robustness across datasets.</a:t>
              </a:r>
            </a:p>
          </p:txBody>
        </p:sp>
      </p:grpSp>
      <p:grpSp>
        <p:nvGrpSpPr>
          <p:cNvPr id="66" name="Rectangle 32"/>
          <p:cNvGrpSpPr/>
          <p:nvPr/>
        </p:nvGrpSpPr>
        <p:grpSpPr>
          <a:xfrm>
            <a:off x="1280160" y="13487400"/>
            <a:ext cx="9144001" cy="685800"/>
            <a:chOff x="0" y="0"/>
            <a:chExt cx="9144000" cy="685800"/>
          </a:xfrm>
        </p:grpSpPr>
        <p:sp>
          <p:nvSpPr>
            <p:cNvPr id="64" name="Rectangle"/>
            <p:cNvSpPr/>
            <p:nvPr/>
          </p:nvSpPr>
          <p:spPr>
            <a:xfrm>
              <a:off x="0" y="0"/>
              <a:ext cx="9144000" cy="685800"/>
            </a:xfrm>
            <a:prstGeom prst="rect">
              <a:avLst/>
            </a:prstGeom>
            <a:solidFill>
              <a:srgbClr val="376092"/>
            </a:solidFill>
            <a:ln w="12700" cap="flat">
              <a:solidFill>
                <a:srgbClr val="3A5E8A"/>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65" name="Introduction"/>
            <p:cNvSpPr txBox="1"/>
            <p:nvPr/>
          </p:nvSpPr>
          <p:spPr>
            <a:xfrm>
              <a:off x="40633" y="27380"/>
              <a:ext cx="9062734" cy="631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4283" tIns="34283" rIns="34283" bIns="34283" numCol="1" anchor="ctr">
              <a:spAutoFit/>
            </a:bodyPr>
            <a:lstStyle>
              <a:lvl1pPr algn="ctr">
                <a:defRPr b="1" sz="4400">
                  <a:solidFill>
                    <a:srgbClr val="EBF1DE"/>
                  </a:solidFill>
                </a:defRPr>
              </a:lvl1pPr>
            </a:lstStyle>
            <a:p>
              <a:pPr/>
              <a:r>
                <a:t>Introduction</a:t>
              </a:r>
            </a:p>
          </p:txBody>
        </p:sp>
      </p:grpSp>
      <p:grpSp>
        <p:nvGrpSpPr>
          <p:cNvPr id="69" name="Text Box 192"/>
          <p:cNvGrpSpPr/>
          <p:nvPr/>
        </p:nvGrpSpPr>
        <p:grpSpPr>
          <a:xfrm>
            <a:off x="11529422" y="5486399"/>
            <a:ext cx="20848321" cy="9050951"/>
            <a:chOff x="0" y="0"/>
            <a:chExt cx="20848319" cy="9050949"/>
          </a:xfrm>
        </p:grpSpPr>
        <p:sp>
          <p:nvSpPr>
            <p:cNvPr id="67" name="Rectangle"/>
            <p:cNvSpPr/>
            <p:nvPr/>
          </p:nvSpPr>
          <p:spPr>
            <a:xfrm>
              <a:off x="0" y="-1"/>
              <a:ext cx="20848320" cy="9050951"/>
            </a:xfrm>
            <a:prstGeom prst="rect">
              <a:avLst/>
            </a:prstGeom>
            <a:solidFill>
              <a:srgbClr val="FFFFFF"/>
            </a:solidFill>
            <a:ln w="12700" cap="flat">
              <a:solidFill>
                <a:srgbClr val="376092"/>
              </a:solidFill>
              <a:prstDash val="solid"/>
              <a:round/>
            </a:ln>
            <a:effectLst/>
          </p:spPr>
          <p:txBody>
            <a:bodyPr wrap="square" lIns="45719" tIns="45719" rIns="45719" bIns="45719" numCol="1" anchor="t">
              <a:noAutofit/>
            </a:bodyPr>
            <a:lstStyle/>
            <a:p>
              <a:pPr>
                <a:defRPr sz="2200">
                  <a:latin typeface="Arial"/>
                  <a:ea typeface="Arial"/>
                  <a:cs typeface="Arial"/>
                  <a:sym typeface="Arial"/>
                </a:defRPr>
              </a:pPr>
            </a:p>
          </p:txBody>
        </p:sp>
        <p:sp>
          <p:nvSpPr>
            <p:cNvPr id="68" name="We propose a hybrid forecasting model combining ARIMA, Echo State Networks (ESN), and LSTM. ARIMA captures linear trends, while ESN models short-term nonlinear dependencies using a reservoir of dynamic states. LSTM further refines predictions by learning"/>
            <p:cNvSpPr txBox="1"/>
            <p:nvPr/>
          </p:nvSpPr>
          <p:spPr>
            <a:xfrm>
              <a:off x="6350" y="6349"/>
              <a:ext cx="20835620" cy="315638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37137" tIns="137137" rIns="137137" bIns="137137" numCol="1" anchor="t">
              <a:spAutoFit/>
            </a:bodyPr>
            <a:lstStyle>
              <a:lvl1pPr>
                <a:defRPr sz="3200"/>
              </a:lvl1pPr>
            </a:lstStyle>
            <a:p>
              <a:pPr/>
              <a:r>
                <a:t>We propose a hybrid forecasting model combining ARIMA, Echo State Networks (ESN), and LSTM. ARIMA captures linear trends, while ESN models short-term nonlinear dependencies using a reservoir of dynamic states. LSTM further refines predictions by learning long-term dependencies. The final forecast integrates outputs from all three models using a weighted fusion technique. Data preprocessing includes date-based feature extraction and normalization. Model performance is evaluated using MAE and RMSE. This approach leverages ARIMA’s trend analysis, ESN’s dynamic adaptability, and LSTM’s sequence learning to enhance time series prediction accuracy.</a:t>
              </a:r>
            </a:p>
          </p:txBody>
        </p:sp>
      </p:grpSp>
      <p:grpSp>
        <p:nvGrpSpPr>
          <p:cNvPr id="72" name="Rectangle 33"/>
          <p:cNvGrpSpPr/>
          <p:nvPr/>
        </p:nvGrpSpPr>
        <p:grpSpPr>
          <a:xfrm>
            <a:off x="11521440" y="4800600"/>
            <a:ext cx="20848320" cy="685800"/>
            <a:chOff x="0" y="0"/>
            <a:chExt cx="20848319" cy="685800"/>
          </a:xfrm>
        </p:grpSpPr>
        <p:sp>
          <p:nvSpPr>
            <p:cNvPr id="70" name="Rectangle"/>
            <p:cNvSpPr/>
            <p:nvPr/>
          </p:nvSpPr>
          <p:spPr>
            <a:xfrm>
              <a:off x="0" y="0"/>
              <a:ext cx="20848320" cy="685800"/>
            </a:xfrm>
            <a:prstGeom prst="rect">
              <a:avLst/>
            </a:prstGeom>
            <a:solidFill>
              <a:srgbClr val="376092"/>
            </a:solidFill>
            <a:ln w="12700" cap="flat">
              <a:solidFill>
                <a:srgbClr val="3A5E8A"/>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71" name="Methods and Materials"/>
            <p:cNvSpPr txBox="1"/>
            <p:nvPr/>
          </p:nvSpPr>
          <p:spPr>
            <a:xfrm>
              <a:off x="40634" y="27380"/>
              <a:ext cx="20767052" cy="631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4283" tIns="34283" rIns="34283" bIns="34283" numCol="1" anchor="ctr">
              <a:spAutoFit/>
            </a:bodyPr>
            <a:lstStyle>
              <a:lvl1pPr algn="ctr">
                <a:defRPr b="1" sz="4400">
                  <a:solidFill>
                    <a:srgbClr val="EBF1DE"/>
                  </a:solidFill>
                </a:defRPr>
              </a:lvl1pPr>
            </a:lstStyle>
            <a:p>
              <a:pPr/>
              <a:r>
                <a:t>Methods and Materials</a:t>
              </a:r>
            </a:p>
          </p:txBody>
        </p:sp>
      </p:grpSp>
      <p:sp>
        <p:nvSpPr>
          <p:cNvPr id="73" name="Text Box 191"/>
          <p:cNvSpPr txBox="1"/>
          <p:nvPr/>
        </p:nvSpPr>
        <p:spPr>
          <a:xfrm>
            <a:off x="33467039" y="5486400"/>
            <a:ext cx="9144001" cy="7131481"/>
          </a:xfrm>
          <a:prstGeom prst="rect">
            <a:avLst/>
          </a:prstGeom>
          <a:solidFill>
            <a:srgbClr val="FFFFFF"/>
          </a:solidFill>
          <a:ln w="12700">
            <a:solidFill>
              <a:srgbClr val="376092"/>
            </a:solidFill>
          </a:ln>
          <a:extLst>
            <a:ext uri="{C572A759-6A51-4108-AA02-DFA0A04FC94B}">
              <ma14:wrappingTextBoxFlag xmlns:ma14="http://schemas.microsoft.com/office/mac/drawingml/2011/main" val="1"/>
            </a:ext>
          </a:extLst>
        </p:spPr>
        <p:txBody>
          <a:bodyPr lIns="137137" tIns="137137" rIns="137137" bIns="137137">
            <a:spAutoFit/>
          </a:bodyPr>
          <a:lstStyle>
            <a:lvl1pPr>
              <a:defRPr sz="3200"/>
            </a:lvl1pPr>
          </a:lstStyle>
          <a:p>
            <a:pPr/>
            <a:r>
              <a:t>Our evaluation reveals that while individual models—ARIMA, LSTM, and ESN—each capture unique aspects of chaotic, non-stationary time series data, they also exhibit distinct limitations: ARIMA struggles with abrupt changes due to its linearity, LSTM suffers from error accumulation over longer horizons, and ESN’s performance is affected by random reservoir initialization. The proposed hybrid model addresses these issues by integrating the strengths of each approach and dynamically weighting their forecasts using Discount Mean Square Forecast Error (DMSFE), resulting in significantly improved accuracy and robustness across both gold and crude oil price datasets.</a:t>
            </a:r>
          </a:p>
        </p:txBody>
      </p:sp>
      <p:grpSp>
        <p:nvGrpSpPr>
          <p:cNvPr id="76" name="Rectangle 34"/>
          <p:cNvGrpSpPr/>
          <p:nvPr/>
        </p:nvGrpSpPr>
        <p:grpSpPr>
          <a:xfrm>
            <a:off x="33467039" y="4800600"/>
            <a:ext cx="9144001" cy="685800"/>
            <a:chOff x="0" y="0"/>
            <a:chExt cx="9144000" cy="685800"/>
          </a:xfrm>
        </p:grpSpPr>
        <p:sp>
          <p:nvSpPr>
            <p:cNvPr id="74" name="Rectangle"/>
            <p:cNvSpPr/>
            <p:nvPr/>
          </p:nvSpPr>
          <p:spPr>
            <a:xfrm>
              <a:off x="0" y="0"/>
              <a:ext cx="9144000" cy="685800"/>
            </a:xfrm>
            <a:prstGeom prst="rect">
              <a:avLst/>
            </a:prstGeom>
            <a:solidFill>
              <a:srgbClr val="376092"/>
            </a:solidFill>
            <a:ln w="12700" cap="flat">
              <a:solidFill>
                <a:srgbClr val="3A5E8A"/>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75" name="Discussion"/>
            <p:cNvSpPr txBox="1"/>
            <p:nvPr/>
          </p:nvSpPr>
          <p:spPr>
            <a:xfrm>
              <a:off x="40633" y="27380"/>
              <a:ext cx="9062734" cy="631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4283" tIns="34283" rIns="34283" bIns="34283" numCol="1" anchor="ctr">
              <a:spAutoFit/>
            </a:bodyPr>
            <a:lstStyle>
              <a:lvl1pPr algn="ctr">
                <a:defRPr b="1" sz="4400">
                  <a:solidFill>
                    <a:srgbClr val="EBF1DE"/>
                  </a:solidFill>
                </a:defRPr>
              </a:lvl1pPr>
            </a:lstStyle>
            <a:p>
              <a:pPr/>
              <a:r>
                <a:t>Discussion</a:t>
              </a:r>
            </a:p>
          </p:txBody>
        </p:sp>
      </p:grpSp>
      <p:sp>
        <p:nvSpPr>
          <p:cNvPr id="77" name="Text Box 193"/>
          <p:cNvSpPr txBox="1"/>
          <p:nvPr/>
        </p:nvSpPr>
        <p:spPr>
          <a:xfrm>
            <a:off x="33467039" y="14173199"/>
            <a:ext cx="9144001" cy="10018735"/>
          </a:xfrm>
          <a:prstGeom prst="rect">
            <a:avLst/>
          </a:prstGeom>
          <a:solidFill>
            <a:srgbClr val="FFFFFF"/>
          </a:solidFill>
          <a:ln w="12700">
            <a:solidFill>
              <a:srgbClr val="376092"/>
            </a:solidFill>
          </a:ln>
          <a:extLst>
            <a:ext uri="{C572A759-6A51-4108-AA02-DFA0A04FC94B}">
              <ma14:wrappingTextBoxFlag xmlns:ma14="http://schemas.microsoft.com/office/mac/drawingml/2011/main" val="1"/>
            </a:ext>
          </a:extLst>
        </p:spPr>
        <p:txBody>
          <a:bodyPr lIns="137137" tIns="137137" rIns="137137" bIns="137137">
            <a:spAutoFit/>
          </a:bodyPr>
          <a:lstStyle/>
          <a:p>
            <a:pPr>
              <a:defRPr sz="3200"/>
            </a:pPr>
            <a:r>
              <a:t>Time series forecasting for chaotic, non-stationary data poses significant challenges. While Echo State Networks (ESNs) effectively capture nonlinear dependencies, their random reservoir initialization and sensitivity to hyperparameters limit consistency. Similarly, Long Short-Term Memory networks (LSTMs) can capture short-term trends but often suffer from error accumulation in long-term forecasts, especially when data distributions evolve.</a:t>
            </a:r>
          </a:p>
          <a:p>
            <a:pPr>
              <a:defRPr sz="3200"/>
            </a:pPr>
            <a:r>
              <a:t>To address these issues, we propose a novel hybrid model that integrates ARIMA, ESNs, and LSTMs, using Discount Mean Square Forecast Error (DMSFE) for dynamic weighting. This structured framework leverages the strengths of each method—enhancing ESN robustness and alleviating LSTM's late-stage prediction errors—resulting in improved overall forecasting accuracy. Experimental evaluations on real-world datasets validate the superior performance of our approach over individual models.</a:t>
            </a:r>
            <a:endParaRPr sz="2200">
              <a:latin typeface="Arial"/>
              <a:ea typeface="Arial"/>
              <a:cs typeface="Arial"/>
              <a:sym typeface="Arial"/>
            </a:endParaRPr>
          </a:p>
        </p:txBody>
      </p:sp>
      <p:grpSp>
        <p:nvGrpSpPr>
          <p:cNvPr id="80" name="Rectangle 35"/>
          <p:cNvGrpSpPr/>
          <p:nvPr/>
        </p:nvGrpSpPr>
        <p:grpSpPr>
          <a:xfrm>
            <a:off x="33467039" y="13487400"/>
            <a:ext cx="9144001" cy="685800"/>
            <a:chOff x="0" y="0"/>
            <a:chExt cx="9144000" cy="685800"/>
          </a:xfrm>
        </p:grpSpPr>
        <p:sp>
          <p:nvSpPr>
            <p:cNvPr id="78" name="Rectangle"/>
            <p:cNvSpPr/>
            <p:nvPr/>
          </p:nvSpPr>
          <p:spPr>
            <a:xfrm>
              <a:off x="0" y="0"/>
              <a:ext cx="9144000" cy="685800"/>
            </a:xfrm>
            <a:prstGeom prst="rect">
              <a:avLst/>
            </a:prstGeom>
            <a:solidFill>
              <a:srgbClr val="376092"/>
            </a:solidFill>
            <a:ln w="12700" cap="flat">
              <a:solidFill>
                <a:srgbClr val="3A5E8A"/>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79" name="Conclusions"/>
            <p:cNvSpPr txBox="1"/>
            <p:nvPr/>
          </p:nvSpPr>
          <p:spPr>
            <a:xfrm>
              <a:off x="40633" y="27380"/>
              <a:ext cx="9062734" cy="631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4283" tIns="34283" rIns="34283" bIns="34283" numCol="1" anchor="ctr">
              <a:spAutoFit/>
            </a:bodyPr>
            <a:lstStyle>
              <a:lvl1pPr algn="ctr">
                <a:defRPr b="1" sz="4400">
                  <a:solidFill>
                    <a:srgbClr val="EBF1DE"/>
                  </a:solidFill>
                </a:defRPr>
              </a:lvl1pPr>
            </a:lstStyle>
            <a:p>
              <a:pPr/>
              <a:r>
                <a:t>Conclusions</a:t>
              </a:r>
            </a:p>
          </p:txBody>
        </p:sp>
      </p:grpSp>
      <p:sp>
        <p:nvSpPr>
          <p:cNvPr id="81" name="Text Box 190"/>
          <p:cNvSpPr txBox="1"/>
          <p:nvPr/>
        </p:nvSpPr>
        <p:spPr>
          <a:xfrm>
            <a:off x="1383027" y="14173199"/>
            <a:ext cx="8972554" cy="13075082"/>
          </a:xfrm>
          <a:prstGeom prst="rect">
            <a:avLst/>
          </a:prstGeom>
          <a:solidFill>
            <a:srgbClr val="FFFFFF"/>
          </a:solidFill>
          <a:ln w="12700">
            <a:solidFill>
              <a:srgbClr val="376092"/>
            </a:solidFill>
          </a:ln>
          <a:extLst>
            <a:ext uri="{C572A759-6A51-4108-AA02-DFA0A04FC94B}">
              <ma14:wrappingTextBoxFlag xmlns:ma14="http://schemas.microsoft.com/office/mac/drawingml/2011/main" val="1"/>
            </a:ext>
          </a:extLst>
        </p:spPr>
        <p:txBody>
          <a:bodyPr lIns="137137" tIns="137137" rIns="137137" bIns="137137">
            <a:spAutoFit/>
          </a:bodyPr>
          <a:lstStyle/>
          <a:p>
            <a:pPr>
              <a:defRPr sz="3200"/>
            </a:pPr>
            <a:r>
              <a:t>A body of research has sought to improve models for chaotic, non-stationary time series data, with the Echo State Network (ESN) as a key method. Enhancements include replacing the Gaussian distribution with a Laplacian one (LAESN/LEESN) to better predict outliers and mitigate limited training samples—sometimes further optimized with genetic algorithms—while heavy-tailed Gaussian distributions have been proposed as superior likelihood approximators. Other innovations involve Modified ESNs (M-ESN) with hybrid regularization and additive decomposition methods in Deep ESNs. Given ESNs' sensitivity to parameter selection and inherent randomness, techniques such as particle swarm optimization, singular value decomposition, and evolutionary strategies have been used to pre-train these networks. Although hybrid models combining statistical, machine learning, and deep learning methods are common in time series forecasting, their integration with ESNs—</a:t>
            </a:r>
          </a:p>
          <a:p>
            <a:pPr>
              <a:defRPr sz="3200"/>
            </a:pPr>
            <a:r>
              <a:t>especially using discount mean square forecast error (DMSFE)—remains underexplored; this research proposes a hybrid model that leverages ESNs while mitigating their limitations with complementary methods.</a:t>
            </a:r>
          </a:p>
        </p:txBody>
      </p:sp>
      <p:grpSp>
        <p:nvGrpSpPr>
          <p:cNvPr id="84" name="Rectangle 44"/>
          <p:cNvGrpSpPr/>
          <p:nvPr/>
        </p:nvGrpSpPr>
        <p:grpSpPr>
          <a:xfrm>
            <a:off x="11434006" y="15104904"/>
            <a:ext cx="20848321" cy="685801"/>
            <a:chOff x="0" y="0"/>
            <a:chExt cx="20848319" cy="685800"/>
          </a:xfrm>
        </p:grpSpPr>
        <p:sp>
          <p:nvSpPr>
            <p:cNvPr id="82" name="Rectangle"/>
            <p:cNvSpPr/>
            <p:nvPr/>
          </p:nvSpPr>
          <p:spPr>
            <a:xfrm>
              <a:off x="0" y="0"/>
              <a:ext cx="20848320" cy="685800"/>
            </a:xfrm>
            <a:prstGeom prst="rect">
              <a:avLst/>
            </a:prstGeom>
            <a:solidFill>
              <a:srgbClr val="376092"/>
            </a:solidFill>
            <a:ln w="12700" cap="flat">
              <a:solidFill>
                <a:srgbClr val="3A5E8A"/>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83" name="Results"/>
            <p:cNvSpPr txBox="1"/>
            <p:nvPr/>
          </p:nvSpPr>
          <p:spPr>
            <a:xfrm>
              <a:off x="40634" y="27380"/>
              <a:ext cx="20767052" cy="631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4283" tIns="34283" rIns="34283" bIns="34283" numCol="1" anchor="ctr">
              <a:spAutoFit/>
            </a:bodyPr>
            <a:lstStyle>
              <a:lvl1pPr algn="ctr">
                <a:defRPr b="1" sz="4400">
                  <a:solidFill>
                    <a:srgbClr val="EBF1DE"/>
                  </a:solidFill>
                </a:defRPr>
              </a:lvl1pPr>
            </a:lstStyle>
            <a:p>
              <a:pPr/>
              <a:r>
                <a:t>Results</a:t>
              </a:r>
            </a:p>
          </p:txBody>
        </p:sp>
      </p:grpSp>
      <p:sp>
        <p:nvSpPr>
          <p:cNvPr id="85" name="Text Box 180"/>
          <p:cNvSpPr txBox="1"/>
          <p:nvPr/>
        </p:nvSpPr>
        <p:spPr>
          <a:xfrm>
            <a:off x="14812208" y="13967502"/>
            <a:ext cx="4421246" cy="425806"/>
          </a:xfrm>
          <a:prstGeom prst="rect">
            <a:avLst/>
          </a:prstGeom>
          <a:ln w="12700">
            <a:miter lim="400000"/>
          </a:ln>
          <a:extLst>
            <a:ext uri="{C572A759-6A51-4108-AA02-DFA0A04FC94B}">
              <ma14:wrappingTextBoxFlag xmlns:ma14="http://schemas.microsoft.com/office/mac/drawingml/2011/main" val="1"/>
            </a:ext>
          </a:extLst>
        </p:spPr>
        <p:txBody>
          <a:bodyPr wrap="none" lIns="34283" tIns="34283" rIns="34283" bIns="34283">
            <a:spAutoFit/>
          </a:bodyPr>
          <a:lstStyle/>
          <a:p>
            <a:pPr defTabSz="4389437">
              <a:defRPr b="1" sz="2400"/>
            </a:pPr>
            <a:r>
              <a:t>Figure 1.</a:t>
            </a:r>
            <a:r>
              <a:rPr b="0"/>
              <a:t> </a:t>
            </a:r>
            <a:r>
              <a:rPr b="0">
                <a:latin typeface="Arial"/>
                <a:ea typeface="Arial"/>
                <a:cs typeface="Arial"/>
                <a:sym typeface="Arial"/>
              </a:rPr>
              <a:t>Proposed Hybrid Model</a:t>
            </a:r>
          </a:p>
        </p:txBody>
      </p:sp>
      <p:sp>
        <p:nvSpPr>
          <p:cNvPr id="86" name="Text Box 181"/>
          <p:cNvSpPr txBox="1"/>
          <p:nvPr/>
        </p:nvSpPr>
        <p:spPr>
          <a:xfrm>
            <a:off x="24965416" y="13622170"/>
            <a:ext cx="2370395" cy="369598"/>
          </a:xfrm>
          <a:prstGeom prst="rect">
            <a:avLst/>
          </a:prstGeom>
          <a:ln w="12700">
            <a:miter lim="400000"/>
          </a:ln>
          <a:extLst>
            <a:ext uri="{C572A759-6A51-4108-AA02-DFA0A04FC94B}">
              <ma14:wrappingTextBoxFlag xmlns:ma14="http://schemas.microsoft.com/office/mac/drawingml/2011/main" val="1"/>
            </a:ext>
          </a:extLst>
        </p:spPr>
        <p:txBody>
          <a:bodyPr wrap="none" lIns="34283" tIns="34283" rIns="34283" bIns="34283">
            <a:spAutoFit/>
          </a:bodyPr>
          <a:lstStyle/>
          <a:p>
            <a:pPr defTabSz="4389437">
              <a:defRPr b="1" sz="2400"/>
            </a:pPr>
            <a:r>
              <a:t>Figure 2.</a:t>
            </a:r>
            <a:r>
              <a:rPr b="0"/>
              <a:t> Data Plot</a:t>
            </a:r>
          </a:p>
        </p:txBody>
      </p:sp>
      <p:sp>
        <p:nvSpPr>
          <p:cNvPr id="87" name="Text Box 180"/>
          <p:cNvSpPr txBox="1"/>
          <p:nvPr/>
        </p:nvSpPr>
        <p:spPr>
          <a:xfrm>
            <a:off x="11587834" y="21842767"/>
            <a:ext cx="5892412" cy="369599"/>
          </a:xfrm>
          <a:prstGeom prst="rect">
            <a:avLst/>
          </a:prstGeom>
          <a:ln w="12700">
            <a:miter lim="400000"/>
          </a:ln>
          <a:extLst>
            <a:ext uri="{C572A759-6A51-4108-AA02-DFA0A04FC94B}">
              <ma14:wrappingTextBoxFlag xmlns:ma14="http://schemas.microsoft.com/office/mac/drawingml/2011/main" val="1"/>
            </a:ext>
          </a:extLst>
        </p:spPr>
        <p:txBody>
          <a:bodyPr wrap="none" lIns="34283" tIns="34283" rIns="34283" bIns="34283">
            <a:spAutoFit/>
          </a:bodyPr>
          <a:lstStyle>
            <a:lvl1pPr algn="ctr" defTabSz="4389437">
              <a:defRPr b="1" sz="2400"/>
            </a:lvl1pPr>
          </a:lstStyle>
          <a:p>
            <a:pPr/>
            <a:r>
              <a:t>Table Model Predictions for Oil and Gold Price</a:t>
            </a:r>
          </a:p>
        </p:txBody>
      </p:sp>
      <p:sp>
        <p:nvSpPr>
          <p:cNvPr id="88" name="Text Box 180"/>
          <p:cNvSpPr txBox="1"/>
          <p:nvPr/>
        </p:nvSpPr>
        <p:spPr>
          <a:xfrm>
            <a:off x="21041004" y="21811163"/>
            <a:ext cx="11283834" cy="690869"/>
          </a:xfrm>
          <a:prstGeom prst="rect">
            <a:avLst/>
          </a:prstGeom>
          <a:ln w="12700">
            <a:miter lim="400000"/>
          </a:ln>
          <a:extLst>
            <a:ext uri="{C572A759-6A51-4108-AA02-DFA0A04FC94B}">
              <ma14:wrappingTextBoxFlag xmlns:ma14="http://schemas.microsoft.com/office/mac/drawingml/2011/main" val="1"/>
            </a:ext>
          </a:extLst>
        </p:spPr>
        <p:txBody>
          <a:bodyPr lIns="34283" tIns="34283" rIns="34283" bIns="34283">
            <a:spAutoFit/>
          </a:bodyPr>
          <a:lstStyle/>
          <a:p>
            <a:pPr algn="ctr" defTabSz="4389437">
              <a:defRPr b="1" sz="2400"/>
            </a:pPr>
            <a:r>
              <a:t>Table 1.</a:t>
            </a:r>
            <a:r>
              <a:rPr b="0" sz="800">
                <a:latin typeface="+mj-lt"/>
                <a:ea typeface="+mj-ea"/>
                <a:cs typeface="+mj-cs"/>
                <a:sym typeface="Helvetica"/>
              </a:rPr>
              <a:t>. </a:t>
            </a:r>
            <a:r>
              <a:rPr b="0"/>
              <a:t>Performance comparison of models for Gold Price and Crude Oil Price data</a:t>
            </a:r>
          </a:p>
          <a:p>
            <a:pPr algn="ctr" defTabSz="4389437">
              <a:defRPr sz="800">
                <a:latin typeface="+mj-lt"/>
                <a:ea typeface="+mj-ea"/>
                <a:cs typeface="+mj-cs"/>
                <a:sym typeface="Helvetica"/>
              </a:defRPr>
            </a:pPr>
          </a:p>
        </p:txBody>
      </p:sp>
      <p:sp>
        <p:nvSpPr>
          <p:cNvPr id="89" name="TextBox 37"/>
          <p:cNvSpPr txBox="1"/>
          <p:nvPr/>
        </p:nvSpPr>
        <p:spPr>
          <a:xfrm>
            <a:off x="30300866" y="29997170"/>
            <a:ext cx="12270328" cy="1957111"/>
          </a:xfrm>
          <a:prstGeom prst="rect">
            <a:avLst/>
          </a:prstGeom>
          <a:ln w="12700">
            <a:miter lim="400000"/>
          </a:ln>
          <a:extLst>
            <a:ext uri="{C572A759-6A51-4108-AA02-DFA0A04FC94B}">
              <ma14:wrappingTextBoxFlag xmlns:ma14="http://schemas.microsoft.com/office/mac/drawingml/2011/main" val="1"/>
            </a:ext>
          </a:extLst>
        </p:spPr>
        <p:txBody>
          <a:bodyPr tIns="91439" bIns="91439">
            <a:spAutoFit/>
          </a:bodyPr>
          <a:lstStyle>
            <a:lvl1pPr>
              <a:defRPr sz="2400"/>
            </a:lvl1pPr>
          </a:lstStyle>
          <a:p>
            <a:pPr/>
            <a:r>
              <a:t>We sincerely thank VIT-AP for providing the necessary resources and support for this research. We also appreciate the guidance of our mentors and colleagues, whose valuable insights enhanced this work. Additionally, we acknowledge the use of computational tools and datasets that facilitated the implementation and evaluation of our hybrid forecasting model.  </a:t>
            </a:r>
          </a:p>
        </p:txBody>
      </p:sp>
      <p:sp>
        <p:nvSpPr>
          <p:cNvPr id="90" name="TextBox 38"/>
          <p:cNvSpPr txBox="1"/>
          <p:nvPr/>
        </p:nvSpPr>
        <p:spPr>
          <a:xfrm>
            <a:off x="35534487" y="29146503"/>
            <a:ext cx="4643347" cy="631040"/>
          </a:xfrm>
          <a:prstGeom prst="rect">
            <a:avLst/>
          </a:prstGeom>
          <a:ln w="12700">
            <a:miter lim="400000"/>
          </a:ln>
          <a:extLst>
            <a:ext uri="{C572A759-6A51-4108-AA02-DFA0A04FC94B}">
              <ma14:wrappingTextBoxFlag xmlns:ma14="http://schemas.microsoft.com/office/mac/drawingml/2011/main" val="1"/>
            </a:ext>
          </a:extLst>
        </p:spPr>
        <p:txBody>
          <a:bodyPr wrap="none" lIns="34283" tIns="34283" rIns="34283" bIns="34283">
            <a:spAutoFit/>
          </a:bodyPr>
          <a:lstStyle>
            <a:lvl1pPr algn="ctr">
              <a:defRPr b="1" sz="4400"/>
            </a:lvl1pPr>
          </a:lstStyle>
          <a:p>
            <a:pPr/>
            <a:r>
              <a:t>Acknowledgements</a:t>
            </a:r>
          </a:p>
        </p:txBody>
      </p:sp>
      <p:sp>
        <p:nvSpPr>
          <p:cNvPr id="91" name="Text Box 193"/>
          <p:cNvSpPr txBox="1"/>
          <p:nvPr/>
        </p:nvSpPr>
        <p:spPr>
          <a:xfrm>
            <a:off x="33467039" y="25138763"/>
            <a:ext cx="9144001" cy="2673781"/>
          </a:xfrm>
          <a:prstGeom prst="rect">
            <a:avLst/>
          </a:prstGeom>
          <a:solidFill>
            <a:srgbClr val="FFFFFF"/>
          </a:solidFill>
          <a:ln w="12700">
            <a:solidFill>
              <a:srgbClr val="376092"/>
            </a:solidFill>
          </a:ln>
          <a:extLst>
            <a:ext uri="{C572A759-6A51-4108-AA02-DFA0A04FC94B}">
              <ma14:wrappingTextBoxFlag xmlns:ma14="http://schemas.microsoft.com/office/mac/drawingml/2011/main" val="1"/>
            </a:ext>
          </a:extLst>
        </p:spPr>
        <p:txBody>
          <a:bodyPr lIns="137137" tIns="137137" rIns="137137" bIns="137137">
            <a:spAutoFit/>
          </a:bodyPr>
          <a:lstStyle>
            <a:lvl1pPr>
              <a:defRPr sz="3200"/>
            </a:lvl1pPr>
          </a:lstStyle>
          <a:p>
            <a:pPr/>
            <a:r>
              <a:t>Future work will explore alternative weighting strategies, clustering methods, and additional neural network architectures to further improve forecasting accuracy and robustness for chaotic, non-stationary data.</a:t>
            </a:r>
          </a:p>
        </p:txBody>
      </p:sp>
      <p:grpSp>
        <p:nvGrpSpPr>
          <p:cNvPr id="94" name="Rectangle 40"/>
          <p:cNvGrpSpPr/>
          <p:nvPr/>
        </p:nvGrpSpPr>
        <p:grpSpPr>
          <a:xfrm>
            <a:off x="33467039" y="24452963"/>
            <a:ext cx="9144001" cy="685801"/>
            <a:chOff x="0" y="0"/>
            <a:chExt cx="9144000" cy="685800"/>
          </a:xfrm>
        </p:grpSpPr>
        <p:sp>
          <p:nvSpPr>
            <p:cNvPr id="92" name="Rectangle"/>
            <p:cNvSpPr/>
            <p:nvPr/>
          </p:nvSpPr>
          <p:spPr>
            <a:xfrm>
              <a:off x="0" y="0"/>
              <a:ext cx="9144000" cy="685800"/>
            </a:xfrm>
            <a:prstGeom prst="rect">
              <a:avLst/>
            </a:prstGeom>
            <a:solidFill>
              <a:srgbClr val="376092"/>
            </a:solidFill>
            <a:ln w="12700" cap="flat">
              <a:solidFill>
                <a:srgbClr val="3A5E8A"/>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93" name="Future Directions"/>
            <p:cNvSpPr txBox="1"/>
            <p:nvPr/>
          </p:nvSpPr>
          <p:spPr>
            <a:xfrm>
              <a:off x="40633" y="27380"/>
              <a:ext cx="9062734" cy="6310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4283" tIns="34283" rIns="34283" bIns="34283" numCol="1" anchor="ctr">
              <a:spAutoFit/>
            </a:bodyPr>
            <a:lstStyle>
              <a:lvl1pPr algn="ctr">
                <a:defRPr b="1" sz="4400">
                  <a:solidFill>
                    <a:srgbClr val="EBF1DE"/>
                  </a:solidFill>
                </a:defRPr>
              </a:lvl1pPr>
            </a:lstStyle>
            <a:p>
              <a:pPr/>
              <a:r>
                <a:t>Future Directions</a:t>
              </a:r>
            </a:p>
          </p:txBody>
        </p:sp>
      </p:grpSp>
      <p:pic>
        <p:nvPicPr>
          <p:cNvPr id="95" name="Picture 5" descr="Picture 5"/>
          <p:cNvPicPr>
            <a:picLocks noChangeAspect="1"/>
          </p:cNvPicPr>
          <p:nvPr/>
        </p:nvPicPr>
        <p:blipFill>
          <a:blip r:embed="rId6">
            <a:extLst/>
          </a:blip>
          <a:stretch>
            <a:fillRect/>
          </a:stretch>
        </p:blipFill>
        <p:spPr>
          <a:xfrm>
            <a:off x="3052761" y="682830"/>
            <a:ext cx="4086226" cy="2514601"/>
          </a:xfrm>
          <a:prstGeom prst="rect">
            <a:avLst/>
          </a:prstGeom>
          <a:ln w="12700">
            <a:miter lim="400000"/>
          </a:ln>
        </p:spPr>
      </p:pic>
      <p:pic>
        <p:nvPicPr>
          <p:cNvPr id="96" name="Picture 7" descr="Picture 7"/>
          <p:cNvPicPr>
            <a:picLocks noChangeAspect="1"/>
          </p:cNvPicPr>
          <p:nvPr/>
        </p:nvPicPr>
        <p:blipFill>
          <a:blip r:embed="rId6">
            <a:extLst/>
          </a:blip>
          <a:stretch>
            <a:fillRect/>
          </a:stretch>
        </p:blipFill>
        <p:spPr>
          <a:xfrm>
            <a:off x="36042600" y="721975"/>
            <a:ext cx="4086225" cy="2514601"/>
          </a:xfrm>
          <a:prstGeom prst="rect">
            <a:avLst/>
          </a:prstGeom>
          <a:ln w="12700">
            <a:miter lim="400000"/>
          </a:ln>
        </p:spPr>
      </p:pic>
      <p:pic>
        <p:nvPicPr>
          <p:cNvPr id="97" name="Picture 1" descr="Picture 1"/>
          <p:cNvPicPr>
            <a:picLocks noChangeAspect="1"/>
          </p:cNvPicPr>
          <p:nvPr/>
        </p:nvPicPr>
        <p:blipFill>
          <a:blip r:embed="rId7">
            <a:extLst/>
          </a:blip>
          <a:stretch>
            <a:fillRect/>
          </a:stretch>
        </p:blipFill>
        <p:spPr>
          <a:xfrm>
            <a:off x="13929146" y="9000145"/>
            <a:ext cx="5410499" cy="4837072"/>
          </a:xfrm>
          <a:prstGeom prst="rect">
            <a:avLst/>
          </a:prstGeom>
          <a:ln w="12700">
            <a:miter lim="400000"/>
          </a:ln>
        </p:spPr>
      </p:pic>
      <p:graphicFrame>
        <p:nvGraphicFramePr>
          <p:cNvPr id="98" name="Table 18"/>
          <p:cNvGraphicFramePr/>
          <p:nvPr/>
        </p:nvGraphicFramePr>
        <p:xfrm>
          <a:off x="21843049" y="22509621"/>
          <a:ext cx="11075708" cy="5637703"/>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1230634"/>
                <a:gridCol w="1230634"/>
                <a:gridCol w="1230634"/>
                <a:gridCol w="1230634"/>
                <a:gridCol w="1230634"/>
                <a:gridCol w="1230634"/>
                <a:gridCol w="1230634"/>
                <a:gridCol w="1230634"/>
                <a:gridCol w="1230634"/>
              </a:tblGrid>
              <a:tr h="939616">
                <a:tc rowSpan="2">
                  <a:txBody>
                    <a:bodyPr/>
                    <a:lstStyle/>
                    <a:p>
                      <a:pPr algn="l">
                        <a:defRPr sz="1800"/>
                      </a:pPr>
                      <a:r>
                        <a:rPr b="1" sz="2700">
                          <a:solidFill>
                            <a:srgbClr val="FFFFFF"/>
                          </a:solidFill>
                        </a:rPr>
                        <a:t>Model</a:t>
                      </a:r>
                    </a:p>
                  </a:txBody>
                  <a:tcPr marL="45720" marR="45720" marT="45720" marB="45720" anchor="t" anchorCtr="0" horzOverflow="overflow">
                    <a:lnB w="38100">
                      <a:solidFill>
                        <a:srgbClr val="FFFFFF"/>
                      </a:solidFill>
                    </a:lnB>
                    <a:solidFill>
                      <a:schemeClr val="accent1"/>
                    </a:solidFill>
                  </a:tcPr>
                </a:tc>
                <a:tc gridSpan="4">
                  <a:txBody>
                    <a:bodyPr/>
                    <a:lstStyle/>
                    <a:p>
                      <a:pPr algn="l">
                        <a:defRPr sz="2700">
                          <a:solidFill>
                            <a:srgbClr val="FFFFFF"/>
                          </a:solidFill>
                        </a:defRPr>
                      </a:pPr>
                      <a:r>
                        <a:t>Gold Price (INR) </a:t>
                      </a:r>
                      <a:endParaRPr b="1"/>
                    </a:p>
                  </a:txBody>
                  <a:tcPr marL="45720" marR="45720" marT="45720" marB="45720" anchor="t" anchorCtr="0" horzOverflow="overflow">
                    <a:lnB w="38100">
                      <a:solidFill>
                        <a:srgbClr val="FFFFFF"/>
                      </a:solidFill>
                    </a:lnB>
                    <a:solidFill>
                      <a:schemeClr val="accent1"/>
                    </a:solidFill>
                  </a:tcPr>
                </a:tc>
                <a:tc hMerge="1">
                  <a:tcPr/>
                </a:tc>
                <a:tc hMerge="1">
                  <a:tcPr/>
                </a:tc>
                <a:tc hMerge="1">
                  <a:tcPr/>
                </a:tc>
                <a:tc gridSpan="4">
                  <a:txBody>
                    <a:bodyPr/>
                    <a:lstStyle/>
                    <a:p>
                      <a:pPr algn="l">
                        <a:defRPr sz="2700">
                          <a:solidFill>
                            <a:srgbClr val="FFFFFF"/>
                          </a:solidFill>
                        </a:defRPr>
                      </a:pPr>
                      <a:r>
                        <a:t>Crude Oil Price (USD)</a:t>
                      </a:r>
                      <a:endParaRPr b="1"/>
                    </a:p>
                  </a:txBody>
                  <a:tcPr marL="45720" marR="45720" marT="45720" marB="45720" anchor="t" anchorCtr="0" horzOverflow="overflow">
                    <a:lnB w="38100">
                      <a:solidFill>
                        <a:srgbClr val="FFFFFF"/>
                      </a:solidFill>
                    </a:lnB>
                    <a:solidFill>
                      <a:schemeClr val="accent1"/>
                    </a:solidFill>
                  </a:tcPr>
                </a:tc>
                <a:tc hMerge="1">
                  <a:tcPr/>
                </a:tc>
                <a:tc hMerge="1">
                  <a:tcPr/>
                </a:tc>
                <a:tc hMerge="1">
                  <a:tcPr/>
                </a:tc>
              </a:tr>
              <a:tr h="939616">
                <a:tc vMerge="1">
                  <a:tcPr/>
                </a:tc>
                <a:tc>
                  <a:txBody>
                    <a:bodyPr/>
                    <a:lstStyle/>
                    <a:p>
                      <a:pPr algn="l">
                        <a:defRPr sz="1800"/>
                      </a:pPr>
                      <a:r>
                        <a:rPr sz="2700"/>
                        <a:t>MAE</a:t>
                      </a:r>
                    </a:p>
                  </a:txBody>
                  <a:tcPr marL="45720" marR="45720" marT="45720" marB="45720" anchor="t" anchorCtr="0" horzOverflow="overflow">
                    <a:lnL w="38100">
                      <a:solidFill>
                        <a:srgbClr val="FFFFFF"/>
                      </a:solidFill>
                    </a:lnL>
                    <a:lnT w="38100">
                      <a:solidFill>
                        <a:srgbClr val="FFFFFF"/>
                      </a:solidFill>
                    </a:lnT>
                  </a:tcPr>
                </a:tc>
                <a:tc>
                  <a:txBody>
                    <a:bodyPr/>
                    <a:lstStyle/>
                    <a:p>
                      <a:pPr algn="l">
                        <a:defRPr sz="1800"/>
                      </a:pPr>
                      <a:r>
                        <a:rPr sz="2700"/>
                        <a:t>MSE</a:t>
                      </a:r>
                    </a:p>
                  </a:txBody>
                  <a:tcPr marL="45720" marR="45720" marT="45720" marB="45720" anchor="t" anchorCtr="0" horzOverflow="overflow">
                    <a:lnT w="38100">
                      <a:solidFill>
                        <a:srgbClr val="FFFFFF"/>
                      </a:solidFill>
                    </a:lnT>
                  </a:tcPr>
                </a:tc>
                <a:tc>
                  <a:txBody>
                    <a:bodyPr/>
                    <a:lstStyle/>
                    <a:p>
                      <a:pPr algn="l">
                        <a:defRPr sz="1800"/>
                      </a:pPr>
                      <a:r>
                        <a:rPr sz="2700"/>
                        <a:t>RMSE</a:t>
                      </a:r>
                    </a:p>
                  </a:txBody>
                  <a:tcPr marL="45720" marR="45720" marT="45720" marB="45720" anchor="t" anchorCtr="0" horzOverflow="overflow">
                    <a:lnT w="38100">
                      <a:solidFill>
                        <a:srgbClr val="FFFFFF"/>
                      </a:solidFill>
                    </a:lnT>
                  </a:tcPr>
                </a:tc>
                <a:tc>
                  <a:txBody>
                    <a:bodyPr/>
                    <a:lstStyle/>
                    <a:p>
                      <a:pPr algn="l">
                        <a:defRPr sz="2700"/>
                      </a:pPr>
                      <a:r>
                        <a:t>R</a:t>
                      </a:r>
                      <a:r>
                        <a:rPr baseline="30000"/>
                        <a:t>2</a:t>
                      </a:r>
                    </a:p>
                  </a:txBody>
                  <a:tcPr marL="45720" marR="45720" marT="45720" marB="45720" anchor="t" anchorCtr="0" horzOverflow="overflow">
                    <a:lnT w="38100">
                      <a:solidFill>
                        <a:srgbClr val="FFFFFF"/>
                      </a:solidFill>
                    </a:lnT>
                  </a:tcPr>
                </a:tc>
                <a:tc>
                  <a:txBody>
                    <a:bodyPr/>
                    <a:lstStyle/>
                    <a:p>
                      <a:pPr algn="l">
                        <a:defRPr sz="1800"/>
                      </a:pPr>
                      <a:r>
                        <a:rPr sz="2700"/>
                        <a:t>MAE</a:t>
                      </a:r>
                    </a:p>
                  </a:txBody>
                  <a:tcPr marL="45720" marR="45720" marT="45720" marB="45720" anchor="t" anchorCtr="0" horzOverflow="overflow">
                    <a:lnT w="38100">
                      <a:solidFill>
                        <a:srgbClr val="FFFFFF"/>
                      </a:solidFill>
                    </a:lnT>
                  </a:tcPr>
                </a:tc>
                <a:tc>
                  <a:txBody>
                    <a:bodyPr/>
                    <a:lstStyle/>
                    <a:p>
                      <a:pPr algn="l">
                        <a:defRPr sz="1800"/>
                      </a:pPr>
                      <a:r>
                        <a:rPr sz="2700"/>
                        <a:t>MSE</a:t>
                      </a:r>
                    </a:p>
                  </a:txBody>
                  <a:tcPr marL="45720" marR="45720" marT="45720" marB="45720" anchor="t" anchorCtr="0" horzOverflow="overflow">
                    <a:lnT w="38100">
                      <a:solidFill>
                        <a:srgbClr val="FFFFFF"/>
                      </a:solidFill>
                    </a:lnT>
                  </a:tcPr>
                </a:tc>
                <a:tc>
                  <a:txBody>
                    <a:bodyPr/>
                    <a:lstStyle/>
                    <a:p>
                      <a:pPr algn="l">
                        <a:defRPr sz="1800"/>
                      </a:pPr>
                      <a:r>
                        <a:rPr sz="2700"/>
                        <a:t>RMSE</a:t>
                      </a:r>
                    </a:p>
                  </a:txBody>
                  <a:tcPr marL="45720" marR="45720" marT="45720" marB="45720" anchor="t" anchorCtr="0" horzOverflow="overflow">
                    <a:lnT w="38100">
                      <a:solidFill>
                        <a:srgbClr val="FFFFFF"/>
                      </a:solidFill>
                    </a:lnT>
                  </a:tcPr>
                </a:tc>
                <a:tc>
                  <a:txBody>
                    <a:bodyPr/>
                    <a:lstStyle/>
                    <a:p>
                      <a:pPr algn="l">
                        <a:defRPr sz="2700"/>
                      </a:pPr>
                      <a:r>
                        <a:t>R</a:t>
                      </a:r>
                      <a:r>
                        <a:rPr baseline="30000"/>
                        <a:t>2</a:t>
                      </a:r>
                    </a:p>
                  </a:txBody>
                  <a:tcPr marL="45720" marR="45720" marT="45720" marB="45720" anchor="t" anchorCtr="0" horzOverflow="overflow">
                    <a:lnT w="38100">
                      <a:solidFill>
                        <a:srgbClr val="FFFFFF"/>
                      </a:solidFill>
                    </a:lnT>
                  </a:tcPr>
                </a:tc>
              </a:tr>
              <a:tr h="939616">
                <a:tc>
                  <a:txBody>
                    <a:bodyPr/>
                    <a:lstStyle/>
                    <a:p>
                      <a:pPr algn="l">
                        <a:defRPr sz="1800"/>
                      </a:pPr>
                      <a:r>
                        <a:rPr sz="2700"/>
                        <a:t>ARIMA</a:t>
                      </a:r>
                    </a:p>
                  </a:txBody>
                  <a:tcPr marL="45720" marR="45720" marT="45720" marB="45720" anchor="t" anchorCtr="0" horzOverflow="overflow">
                    <a:lnT w="38100">
                      <a:solidFill>
                        <a:srgbClr val="FFFFFF"/>
                      </a:solidFill>
                    </a:lnT>
                    <a:solidFill>
                      <a:srgbClr val="E8ECF4"/>
                    </a:solidFill>
                  </a:tcPr>
                </a:tc>
                <a:tc>
                  <a:txBody>
                    <a:bodyPr/>
                    <a:lstStyle/>
                    <a:p>
                      <a:pPr algn="l">
                        <a:defRPr sz="1800"/>
                      </a:pPr>
                      <a:r>
                        <a:rPr sz="2700"/>
                        <a:t>361.83</a:t>
                      </a:r>
                    </a:p>
                  </a:txBody>
                  <a:tcPr marL="45720" marR="45720" marT="45720" marB="45720" anchor="t" anchorCtr="0" horzOverflow="overflow">
                    <a:solidFill>
                      <a:srgbClr val="E8ECF4"/>
                    </a:solidFill>
                  </a:tcPr>
                </a:tc>
                <a:tc>
                  <a:txBody>
                    <a:bodyPr/>
                    <a:lstStyle/>
                    <a:p>
                      <a:pPr algn="l">
                        <a:defRPr sz="1800"/>
                      </a:pPr>
                      <a:r>
                        <a:rPr sz="2700"/>
                        <a:t>237331.31</a:t>
                      </a:r>
                    </a:p>
                  </a:txBody>
                  <a:tcPr marL="45720" marR="45720" marT="45720" marB="45720" anchor="t" anchorCtr="0" horzOverflow="overflow">
                    <a:solidFill>
                      <a:srgbClr val="E8ECF4"/>
                    </a:solidFill>
                  </a:tcPr>
                </a:tc>
                <a:tc>
                  <a:txBody>
                    <a:bodyPr/>
                    <a:lstStyle/>
                    <a:p>
                      <a:pPr algn="l">
                        <a:defRPr sz="1800"/>
                      </a:pPr>
                      <a:r>
                        <a:rPr sz="2700"/>
                        <a:t>487.17</a:t>
                      </a:r>
                    </a:p>
                  </a:txBody>
                  <a:tcPr marL="45720" marR="45720" marT="45720" marB="45720" anchor="t" anchorCtr="0" horzOverflow="overflow">
                    <a:solidFill>
                      <a:srgbClr val="E8ECF4"/>
                    </a:solidFill>
                  </a:tcPr>
                </a:tc>
                <a:tc>
                  <a:txBody>
                    <a:bodyPr/>
                    <a:lstStyle/>
                    <a:p>
                      <a:pPr algn="l">
                        <a:defRPr sz="1800"/>
                      </a:pPr>
                      <a:r>
                        <a:rPr sz="2700"/>
                        <a:t>1.00</a:t>
                      </a:r>
                    </a:p>
                  </a:txBody>
                  <a:tcPr marL="45720" marR="45720" marT="45720" marB="45720" anchor="t" anchorCtr="0" horzOverflow="overflow">
                    <a:solidFill>
                      <a:srgbClr val="E8ECF4"/>
                    </a:solidFill>
                  </a:tcPr>
                </a:tc>
                <a:tc>
                  <a:txBody>
                    <a:bodyPr/>
                    <a:lstStyle/>
                    <a:p>
                      <a:pPr algn="l">
                        <a:defRPr sz="1800"/>
                      </a:pPr>
                      <a:r>
                        <a:rPr sz="2700"/>
                        <a:t>1.13</a:t>
                      </a:r>
                    </a:p>
                  </a:txBody>
                  <a:tcPr marL="45720" marR="45720" marT="45720" marB="45720" anchor="t" anchorCtr="0" horzOverflow="overflow">
                    <a:solidFill>
                      <a:srgbClr val="E8ECF4"/>
                    </a:solidFill>
                  </a:tcPr>
                </a:tc>
                <a:tc>
                  <a:txBody>
                    <a:bodyPr/>
                    <a:lstStyle/>
                    <a:p>
                      <a:pPr algn="l">
                        <a:defRPr sz="1800"/>
                      </a:pPr>
                      <a:r>
                        <a:rPr sz="2700"/>
                        <a:t>2.87</a:t>
                      </a:r>
                    </a:p>
                  </a:txBody>
                  <a:tcPr marL="45720" marR="45720" marT="45720" marB="45720" anchor="t" anchorCtr="0" horzOverflow="overflow">
                    <a:solidFill>
                      <a:srgbClr val="E8ECF4"/>
                    </a:solidFill>
                  </a:tcPr>
                </a:tc>
                <a:tc>
                  <a:txBody>
                    <a:bodyPr/>
                    <a:lstStyle/>
                    <a:p>
                      <a:pPr algn="l">
                        <a:defRPr sz="1800"/>
                      </a:pPr>
                      <a:r>
                        <a:rPr sz="2700"/>
                        <a:t>1.69</a:t>
                      </a:r>
                    </a:p>
                  </a:txBody>
                  <a:tcPr marL="45720" marR="45720" marT="45720" marB="45720" anchor="t" anchorCtr="0" horzOverflow="overflow">
                    <a:solidFill>
                      <a:srgbClr val="E8ECF4"/>
                    </a:solidFill>
                  </a:tcPr>
                </a:tc>
                <a:tc>
                  <a:txBody>
                    <a:bodyPr/>
                    <a:lstStyle/>
                    <a:p>
                      <a:pPr algn="l">
                        <a:defRPr sz="1800"/>
                      </a:pPr>
                      <a:r>
                        <a:rPr sz="2700"/>
                        <a:t>0.99</a:t>
                      </a:r>
                    </a:p>
                  </a:txBody>
                  <a:tcPr marL="45720" marR="45720" marT="45720" marB="45720" anchor="t" anchorCtr="0" horzOverflow="overflow">
                    <a:solidFill>
                      <a:srgbClr val="E8ECF4"/>
                    </a:solidFill>
                  </a:tcPr>
                </a:tc>
              </a:tr>
              <a:tr h="939616">
                <a:tc>
                  <a:txBody>
                    <a:bodyPr/>
                    <a:lstStyle/>
                    <a:p>
                      <a:pPr algn="l">
                        <a:defRPr sz="1800"/>
                      </a:pPr>
                      <a:r>
                        <a:rPr sz="2700"/>
                        <a:t>LSTM</a:t>
                      </a:r>
                    </a:p>
                  </a:txBody>
                  <a:tcPr marL="45720" marR="45720" marT="45720" marB="45720" anchor="t" anchorCtr="0" horzOverflow="overflow"/>
                </a:tc>
                <a:tc>
                  <a:txBody>
                    <a:bodyPr/>
                    <a:lstStyle/>
                    <a:p>
                      <a:pPr algn="l">
                        <a:defRPr sz="1800"/>
                      </a:pPr>
                      <a:r>
                        <a:rPr sz="2700"/>
                        <a:t>293.22</a:t>
                      </a:r>
                    </a:p>
                  </a:txBody>
                  <a:tcPr marL="45720" marR="45720" marT="45720" marB="45720" anchor="t" anchorCtr="0" horzOverflow="overflow"/>
                </a:tc>
                <a:tc>
                  <a:txBody>
                    <a:bodyPr/>
                    <a:lstStyle/>
                    <a:p>
                      <a:pPr algn="l">
                        <a:defRPr sz="1800"/>
                      </a:pPr>
                      <a:r>
                        <a:rPr sz="2700"/>
                        <a:t>164063.76</a:t>
                      </a:r>
                    </a:p>
                  </a:txBody>
                  <a:tcPr marL="45720" marR="45720" marT="45720" marB="45720" anchor="t" anchorCtr="0" horzOverflow="overflow"/>
                </a:tc>
                <a:tc>
                  <a:txBody>
                    <a:bodyPr/>
                    <a:lstStyle/>
                    <a:p>
                      <a:pPr algn="l">
                        <a:defRPr sz="1800"/>
                      </a:pPr>
                      <a:r>
                        <a:rPr sz="2700"/>
                        <a:t>405.05</a:t>
                      </a:r>
                    </a:p>
                  </a:txBody>
                  <a:tcPr marL="45720" marR="45720" marT="45720" marB="45720" anchor="t" anchorCtr="0" horzOverflow="overflow"/>
                </a:tc>
                <a:tc>
                  <a:txBody>
                    <a:bodyPr/>
                    <a:lstStyle/>
                    <a:p>
                      <a:pPr algn="l">
                        <a:defRPr sz="1800"/>
                      </a:pPr>
                      <a:r>
                        <a:rPr sz="2700"/>
                        <a:t>1.00</a:t>
                      </a:r>
                    </a:p>
                  </a:txBody>
                  <a:tcPr marL="45720" marR="45720" marT="45720" marB="45720" anchor="t" anchorCtr="0" horzOverflow="overflow"/>
                </a:tc>
                <a:tc>
                  <a:txBody>
                    <a:bodyPr/>
                    <a:lstStyle/>
                    <a:p>
                      <a:pPr algn="l">
                        <a:defRPr sz="1800"/>
                      </a:pPr>
                      <a:r>
                        <a:rPr sz="2700"/>
                        <a:t>1.43</a:t>
                      </a:r>
                    </a:p>
                  </a:txBody>
                  <a:tcPr marL="45720" marR="45720" marT="45720" marB="45720" anchor="t" anchorCtr="0" horzOverflow="overflow"/>
                </a:tc>
                <a:tc>
                  <a:txBody>
                    <a:bodyPr/>
                    <a:lstStyle/>
                    <a:p>
                      <a:pPr algn="l">
                        <a:defRPr sz="1800"/>
                      </a:pPr>
                      <a:r>
                        <a:rPr sz="2700"/>
                        <a:t>4.05</a:t>
                      </a:r>
                    </a:p>
                  </a:txBody>
                  <a:tcPr marL="45720" marR="45720" marT="45720" marB="45720" anchor="t" anchorCtr="0" horzOverflow="overflow"/>
                </a:tc>
                <a:tc>
                  <a:txBody>
                    <a:bodyPr/>
                    <a:lstStyle/>
                    <a:p>
                      <a:pPr algn="l">
                        <a:defRPr sz="1800"/>
                      </a:pPr>
                      <a:r>
                        <a:rPr sz="2700"/>
                        <a:t>2.01</a:t>
                      </a:r>
                    </a:p>
                  </a:txBody>
                  <a:tcPr marL="45720" marR="45720" marT="45720" marB="45720" anchor="t" anchorCtr="0" horzOverflow="overflow"/>
                </a:tc>
                <a:tc>
                  <a:txBody>
                    <a:bodyPr/>
                    <a:lstStyle/>
                    <a:p>
                      <a:pPr algn="l">
                        <a:defRPr sz="1800"/>
                      </a:pPr>
                      <a:r>
                        <a:rPr sz="2700"/>
                        <a:t>0.99</a:t>
                      </a:r>
                    </a:p>
                  </a:txBody>
                  <a:tcPr marL="45720" marR="45720" marT="45720" marB="45720" anchor="t" anchorCtr="0" horzOverflow="overflow"/>
                </a:tc>
              </a:tr>
              <a:tr h="939616">
                <a:tc>
                  <a:txBody>
                    <a:bodyPr/>
                    <a:lstStyle/>
                    <a:p>
                      <a:pPr algn="l">
                        <a:defRPr sz="1800"/>
                      </a:pPr>
                      <a:r>
                        <a:rPr sz="2700"/>
                        <a:t>ESN</a:t>
                      </a:r>
                    </a:p>
                  </a:txBody>
                  <a:tcPr marL="45720" marR="45720" marT="45720" marB="45720" anchor="t" anchorCtr="0" horzOverflow="overflow">
                    <a:solidFill>
                      <a:srgbClr val="E8ECF4"/>
                    </a:solidFill>
                  </a:tcPr>
                </a:tc>
                <a:tc>
                  <a:txBody>
                    <a:bodyPr/>
                    <a:lstStyle/>
                    <a:p>
                      <a:pPr algn="l">
                        <a:defRPr sz="1800"/>
                      </a:pPr>
                      <a:r>
                        <a:rPr sz="2700"/>
                        <a:t>224.14</a:t>
                      </a:r>
                    </a:p>
                  </a:txBody>
                  <a:tcPr marL="45720" marR="45720" marT="45720" marB="45720" anchor="t" anchorCtr="0" horzOverflow="overflow">
                    <a:solidFill>
                      <a:srgbClr val="E8ECF4"/>
                    </a:solidFill>
                  </a:tcPr>
                </a:tc>
                <a:tc>
                  <a:txBody>
                    <a:bodyPr/>
                    <a:lstStyle/>
                    <a:p>
                      <a:pPr algn="l">
                        <a:defRPr sz="1800"/>
                      </a:pPr>
                      <a:r>
                        <a:rPr sz="2700"/>
                        <a:t>143961.69</a:t>
                      </a:r>
                    </a:p>
                  </a:txBody>
                  <a:tcPr marL="45720" marR="45720" marT="45720" marB="45720" anchor="t" anchorCtr="0" horzOverflow="overflow">
                    <a:solidFill>
                      <a:srgbClr val="E8ECF4"/>
                    </a:solidFill>
                  </a:tcPr>
                </a:tc>
                <a:tc>
                  <a:txBody>
                    <a:bodyPr/>
                    <a:lstStyle/>
                    <a:p>
                      <a:pPr algn="l">
                        <a:defRPr sz="1800"/>
                      </a:pPr>
                      <a:r>
                        <a:rPr sz="2700"/>
                        <a:t>379.42</a:t>
                      </a:r>
                    </a:p>
                  </a:txBody>
                  <a:tcPr marL="45720" marR="45720" marT="45720" marB="45720" anchor="t" anchorCtr="0" horzOverflow="overflow">
                    <a:solidFill>
                      <a:srgbClr val="E8ECF4"/>
                    </a:solidFill>
                  </a:tcPr>
                </a:tc>
                <a:tc>
                  <a:txBody>
                    <a:bodyPr/>
                    <a:lstStyle/>
                    <a:p>
                      <a:pPr algn="l">
                        <a:defRPr sz="1800"/>
                      </a:pPr>
                      <a:r>
                        <a:rPr sz="2700"/>
                        <a:t>1.00</a:t>
                      </a:r>
                    </a:p>
                  </a:txBody>
                  <a:tcPr marL="45720" marR="45720" marT="45720" marB="45720" anchor="t" anchorCtr="0" horzOverflow="overflow">
                    <a:solidFill>
                      <a:srgbClr val="E8ECF4"/>
                    </a:solidFill>
                  </a:tcPr>
                </a:tc>
                <a:tc>
                  <a:txBody>
                    <a:bodyPr/>
                    <a:lstStyle/>
                    <a:p>
                      <a:pPr algn="l">
                        <a:defRPr sz="1800"/>
                      </a:pPr>
                      <a:r>
                        <a:rPr sz="2700"/>
                        <a:t>0.05</a:t>
                      </a:r>
                    </a:p>
                  </a:txBody>
                  <a:tcPr marL="45720" marR="45720" marT="45720" marB="45720" anchor="t" anchorCtr="0" horzOverflow="overflow">
                    <a:solidFill>
                      <a:srgbClr val="E8ECF4"/>
                    </a:solidFill>
                  </a:tcPr>
                </a:tc>
                <a:tc>
                  <a:txBody>
                    <a:bodyPr/>
                    <a:lstStyle/>
                    <a:p>
                      <a:pPr algn="l">
                        <a:defRPr sz="1800"/>
                      </a:pPr>
                      <a:r>
                        <a:rPr sz="2700"/>
                        <a:t>0.02</a:t>
                      </a:r>
                    </a:p>
                  </a:txBody>
                  <a:tcPr marL="45720" marR="45720" marT="45720" marB="45720" anchor="t" anchorCtr="0" horzOverflow="overflow">
                    <a:solidFill>
                      <a:srgbClr val="E8ECF4"/>
                    </a:solidFill>
                  </a:tcPr>
                </a:tc>
                <a:tc>
                  <a:txBody>
                    <a:bodyPr/>
                    <a:lstStyle/>
                    <a:p>
                      <a:pPr algn="l">
                        <a:defRPr sz="1800"/>
                      </a:pPr>
                      <a:r>
                        <a:rPr sz="2700"/>
                        <a:t>0.15</a:t>
                      </a:r>
                    </a:p>
                  </a:txBody>
                  <a:tcPr marL="45720" marR="45720" marT="45720" marB="45720" anchor="t" anchorCtr="0" horzOverflow="overflow">
                    <a:solidFill>
                      <a:srgbClr val="E8ECF4"/>
                    </a:solidFill>
                  </a:tcPr>
                </a:tc>
                <a:tc>
                  <a:txBody>
                    <a:bodyPr/>
                    <a:lstStyle/>
                    <a:p>
                      <a:pPr algn="l">
                        <a:defRPr sz="1800"/>
                      </a:pPr>
                      <a:r>
                        <a:rPr sz="2700"/>
                        <a:t>1.00</a:t>
                      </a:r>
                    </a:p>
                  </a:txBody>
                  <a:tcPr marL="45720" marR="45720" marT="45720" marB="45720" anchor="t" anchorCtr="0" horzOverflow="overflow">
                    <a:solidFill>
                      <a:srgbClr val="E8ECF4"/>
                    </a:solidFill>
                  </a:tcPr>
                </a:tc>
              </a:tr>
              <a:tr h="939616">
                <a:tc>
                  <a:txBody>
                    <a:bodyPr/>
                    <a:lstStyle/>
                    <a:p>
                      <a:pPr algn="l">
                        <a:defRPr sz="1800"/>
                      </a:pPr>
                      <a:r>
                        <a:rPr b="1" sz="2700"/>
                        <a:t>Hybrid</a:t>
                      </a:r>
                    </a:p>
                  </a:txBody>
                  <a:tcPr marL="45720" marR="45720" marT="45720" marB="45720" anchor="t" anchorCtr="0" horzOverflow="overflow"/>
                </a:tc>
                <a:tc>
                  <a:txBody>
                    <a:bodyPr/>
                    <a:lstStyle/>
                    <a:p>
                      <a:pPr algn="l">
                        <a:defRPr sz="1800"/>
                      </a:pPr>
                      <a:r>
                        <a:rPr b="1" sz="2700"/>
                        <a:t>162.72</a:t>
                      </a:r>
                    </a:p>
                  </a:txBody>
                  <a:tcPr marL="45720" marR="45720" marT="45720" marB="45720" anchor="t" anchorCtr="0" horzOverflow="overflow"/>
                </a:tc>
                <a:tc>
                  <a:txBody>
                    <a:bodyPr/>
                    <a:lstStyle/>
                    <a:p>
                      <a:pPr algn="l">
                        <a:defRPr sz="1800"/>
                      </a:pPr>
                      <a:r>
                        <a:rPr b="1" sz="2700"/>
                        <a:t>46988.16</a:t>
                      </a:r>
                    </a:p>
                  </a:txBody>
                  <a:tcPr marL="45720" marR="45720" marT="45720" marB="45720" anchor="t" anchorCtr="0" horzOverflow="overflow"/>
                </a:tc>
                <a:tc>
                  <a:txBody>
                    <a:bodyPr/>
                    <a:lstStyle/>
                    <a:p>
                      <a:pPr algn="l">
                        <a:defRPr sz="1800"/>
                      </a:pPr>
                      <a:r>
                        <a:rPr b="1" sz="2700"/>
                        <a:t>216.77</a:t>
                      </a:r>
                    </a:p>
                  </a:txBody>
                  <a:tcPr marL="45720" marR="45720" marT="45720" marB="45720" anchor="t" anchorCtr="0" horzOverflow="overflow"/>
                </a:tc>
                <a:tc>
                  <a:txBody>
                    <a:bodyPr/>
                    <a:lstStyle/>
                    <a:p>
                      <a:pPr algn="l">
                        <a:defRPr sz="1800"/>
                      </a:pPr>
                      <a:r>
                        <a:rPr b="1" sz="2700"/>
                        <a:t>0.99916</a:t>
                      </a:r>
                    </a:p>
                  </a:txBody>
                  <a:tcPr marL="45720" marR="45720" marT="45720" marB="45720" anchor="t" anchorCtr="0" horzOverflow="overflow"/>
                </a:tc>
                <a:tc>
                  <a:txBody>
                    <a:bodyPr/>
                    <a:lstStyle/>
                    <a:p>
                      <a:pPr algn="l">
                        <a:defRPr sz="1800"/>
                      </a:pPr>
                      <a:r>
                        <a:rPr b="1" sz="2700"/>
                        <a:t>0.03</a:t>
                      </a:r>
                    </a:p>
                  </a:txBody>
                  <a:tcPr marL="45720" marR="45720" marT="45720" marB="45720" anchor="t" anchorCtr="0" horzOverflow="overflow"/>
                </a:tc>
                <a:tc>
                  <a:txBody>
                    <a:bodyPr/>
                    <a:lstStyle/>
                    <a:p>
                      <a:pPr algn="l">
                        <a:defRPr sz="1800"/>
                      </a:pPr>
                      <a:r>
                        <a:rPr b="1" sz="2700"/>
                        <a:t>0.003</a:t>
                      </a:r>
                    </a:p>
                  </a:txBody>
                  <a:tcPr marL="45720" marR="45720" marT="45720" marB="45720" anchor="t" anchorCtr="0" horzOverflow="overflow"/>
                </a:tc>
                <a:tc>
                  <a:txBody>
                    <a:bodyPr/>
                    <a:lstStyle/>
                    <a:p>
                      <a:pPr algn="l">
                        <a:defRPr sz="1800"/>
                      </a:pPr>
                      <a:r>
                        <a:rPr b="1" sz="2700"/>
                        <a:t>0.05</a:t>
                      </a:r>
                    </a:p>
                  </a:txBody>
                  <a:tcPr marL="45720" marR="45720" marT="45720" marB="45720" anchor="t" anchorCtr="0" horzOverflow="overflow"/>
                </a:tc>
                <a:tc>
                  <a:txBody>
                    <a:bodyPr/>
                    <a:lstStyle/>
                    <a:p>
                      <a:pPr algn="l">
                        <a:defRPr sz="1800"/>
                      </a:pPr>
                      <a:r>
                        <a:rPr b="1" sz="2700"/>
                        <a:t>0.99999</a:t>
                      </a:r>
                    </a:p>
                  </a:txBody>
                  <a:tcPr marL="45720" marR="45720" marT="45720" marB="45720" anchor="t" anchorCtr="0" horzOverflow="overflow"/>
                </a:tc>
              </a:tr>
            </a:tbl>
          </a:graphicData>
        </a:graphic>
      </p:graphicFrame>
      <p:pic>
        <p:nvPicPr>
          <p:cNvPr id="99" name="Picture 2" descr="Picture 2"/>
          <p:cNvPicPr>
            <a:picLocks noChangeAspect="1"/>
          </p:cNvPicPr>
          <p:nvPr/>
        </p:nvPicPr>
        <p:blipFill>
          <a:blip r:embed="rId8">
            <a:extLst/>
          </a:blip>
          <a:stretch>
            <a:fillRect/>
          </a:stretch>
        </p:blipFill>
        <p:spPr>
          <a:xfrm>
            <a:off x="10589293" y="22256771"/>
            <a:ext cx="6556985" cy="3257773"/>
          </a:xfrm>
          <a:prstGeom prst="rect">
            <a:avLst/>
          </a:prstGeom>
          <a:ln w="12700">
            <a:miter lim="400000"/>
          </a:ln>
        </p:spPr>
      </p:pic>
      <p:pic>
        <p:nvPicPr>
          <p:cNvPr id="100" name="Picture 15" descr="Picture 15"/>
          <p:cNvPicPr>
            <a:picLocks noChangeAspect="1"/>
          </p:cNvPicPr>
          <p:nvPr/>
        </p:nvPicPr>
        <p:blipFill>
          <a:blip r:embed="rId9">
            <a:extLst/>
          </a:blip>
          <a:stretch>
            <a:fillRect/>
          </a:stretch>
        </p:blipFill>
        <p:spPr>
          <a:xfrm>
            <a:off x="14950944" y="25627652"/>
            <a:ext cx="6556985" cy="3062840"/>
          </a:xfrm>
          <a:prstGeom prst="rect">
            <a:avLst/>
          </a:prstGeom>
          <a:ln w="12700">
            <a:miter lim="400000"/>
          </a:ln>
        </p:spPr>
      </p:pic>
      <p:pic>
        <p:nvPicPr>
          <p:cNvPr id="101" name="Picture 16" descr="Picture 16"/>
          <p:cNvPicPr>
            <a:picLocks noChangeAspect="1"/>
          </p:cNvPicPr>
          <p:nvPr/>
        </p:nvPicPr>
        <p:blipFill>
          <a:blip r:embed="rId10">
            <a:extLst/>
          </a:blip>
          <a:stretch>
            <a:fillRect/>
          </a:stretch>
        </p:blipFill>
        <p:spPr>
          <a:xfrm>
            <a:off x="22386278" y="9443078"/>
            <a:ext cx="7557689" cy="3958517"/>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3291278" rtl="0" fontAlgn="auto" latinLnBrk="0" hangingPunct="0">
          <a:lnSpc>
            <a:spcPct val="100000"/>
          </a:lnSpc>
          <a:spcBef>
            <a:spcPts val="0"/>
          </a:spcBef>
          <a:spcAft>
            <a:spcPts val="0"/>
          </a:spcAft>
          <a:buClrTx/>
          <a:buSzTx/>
          <a:buFontTx/>
          <a:buNone/>
          <a:tabLst/>
          <a:defRPr b="0" baseline="0" cap="none" i="0" spc="0" strike="noStrike" sz="64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3291278" rtl="0" fontAlgn="auto" latinLnBrk="0" hangingPunct="0">
          <a:lnSpc>
            <a:spcPct val="100000"/>
          </a:lnSpc>
          <a:spcBef>
            <a:spcPts val="0"/>
          </a:spcBef>
          <a:spcAft>
            <a:spcPts val="0"/>
          </a:spcAft>
          <a:buClrTx/>
          <a:buSzTx/>
          <a:buFontTx/>
          <a:buNone/>
          <a:tabLst/>
          <a:defRPr b="0" baseline="0" cap="none" i="0" spc="0" strike="noStrike" sz="64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3291278" rtl="0" fontAlgn="auto" latinLnBrk="0" hangingPunct="0">
          <a:lnSpc>
            <a:spcPct val="100000"/>
          </a:lnSpc>
          <a:spcBef>
            <a:spcPts val="0"/>
          </a:spcBef>
          <a:spcAft>
            <a:spcPts val="0"/>
          </a:spcAft>
          <a:buClrTx/>
          <a:buSzTx/>
          <a:buFontTx/>
          <a:buNone/>
          <a:tabLst/>
          <a:defRPr b="0" baseline="0" cap="none" i="0" spc="0" strike="noStrike" sz="64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3291278" rtl="0" fontAlgn="auto" latinLnBrk="0" hangingPunct="0">
          <a:lnSpc>
            <a:spcPct val="100000"/>
          </a:lnSpc>
          <a:spcBef>
            <a:spcPts val="0"/>
          </a:spcBef>
          <a:spcAft>
            <a:spcPts val="0"/>
          </a:spcAft>
          <a:buClrTx/>
          <a:buSzTx/>
          <a:buFontTx/>
          <a:buNone/>
          <a:tabLst/>
          <a:defRPr b="0" baseline="0" cap="none" i="0" spc="0" strike="noStrike" sz="64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